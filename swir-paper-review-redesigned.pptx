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fea3d7a2c6442b" /><Relationship Type="http://schemas.openxmlformats.org/officeDocument/2006/relationships/extended-properties" Target="/docProps/app.xml" Id="Rfd5e5599543a4e9c" /><Relationship Type="http://schemas.openxmlformats.org/officeDocument/2006/relationships/officeDocument" Target="/ppt/presentation.xml" Id="R3bea4db12da14a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72fb3e7efa492a"/>
  </p:sldMasterIdLst>
  <p:notesMasterIdLst>
    <p:notesMasterId xmlns:r="http://schemas.openxmlformats.org/officeDocument/2006/relationships" r:id="R9f98de0ef3284da3"/>
  </p:notesMasterIdLst>
  <p:sldIdLst>
    <p:sldId xmlns:r="http://schemas.openxmlformats.org/officeDocument/2006/relationships" id="256" r:id="R4213c62e61f8411d"/>
    <p:sldId xmlns:r="http://schemas.openxmlformats.org/officeDocument/2006/relationships" id="257" r:id="R9f88c7356b474b31"/>
    <p:sldId xmlns:r="http://schemas.openxmlformats.org/officeDocument/2006/relationships" id="258" r:id="R2750bcda5e7f4b31"/>
    <p:sldId xmlns:r="http://schemas.openxmlformats.org/officeDocument/2006/relationships" id="259" r:id="R1018012ef63e400d"/>
    <p:sldId xmlns:r="http://schemas.openxmlformats.org/officeDocument/2006/relationships" id="260" r:id="Reffe4e81b0fe412c"/>
    <p:sldId xmlns:r="http://schemas.openxmlformats.org/officeDocument/2006/relationships" id="261" r:id="R505a2c9b737e463c"/>
    <p:sldId xmlns:r="http://schemas.openxmlformats.org/officeDocument/2006/relationships" id="262" r:id="R3941f0ffd55f45df"/>
    <p:sldId xmlns:r="http://schemas.openxmlformats.org/officeDocument/2006/relationships" id="263" r:id="R035a75b9befe4014"/>
    <p:sldId xmlns:r="http://schemas.openxmlformats.org/officeDocument/2006/relationships" id="264" r:id="R85a88a2ddf1a41fb"/>
    <p:sldId xmlns:r="http://schemas.openxmlformats.org/officeDocument/2006/relationships" id="265" r:id="R5b9b27ec89fd4e55"/>
    <p:sldId xmlns:r="http://schemas.openxmlformats.org/officeDocument/2006/relationships" id="266" r:id="R04e6c8e2e96a4fef"/>
    <p:sldId xmlns:r="http://schemas.openxmlformats.org/officeDocument/2006/relationships" id="267" r:id="R323a38b38cbf41c5"/>
    <p:sldId xmlns:r="http://schemas.openxmlformats.org/officeDocument/2006/relationships" id="268" r:id="R278573afa8824abf"/>
    <p:sldId xmlns:r="http://schemas.openxmlformats.org/officeDocument/2006/relationships" id="269" r:id="R173fa108045e4d2e"/>
    <p:sldId xmlns:r="http://schemas.openxmlformats.org/officeDocument/2006/relationships" id="270" r:id="R8ce558084d694519"/>
    <p:sldId xmlns:r="http://schemas.openxmlformats.org/officeDocument/2006/relationships" id="271" r:id="Rd33429d1619846bf"/>
    <p:sldId xmlns:r="http://schemas.openxmlformats.org/officeDocument/2006/relationships" id="272" r:id="R99925049734d4613"/>
    <p:sldId xmlns:r="http://schemas.openxmlformats.org/officeDocument/2006/relationships" id="273" r:id="Ra12f933acd824cb4"/>
    <p:sldId xmlns:r="http://schemas.openxmlformats.org/officeDocument/2006/relationships" id="274" r:id="Re12cf4da9e794a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5ca22f05604b98" /><Relationship Type="http://schemas.openxmlformats.org/officeDocument/2006/relationships/slideMaster" Target="/ppt/slideMasters/slideMaster1.xml" Id="Rc172fb3e7efa492a" /><Relationship Type="http://schemas.openxmlformats.org/officeDocument/2006/relationships/notesMaster" Target="/ppt/notesMasters/notesMaster1.xml" Id="R9f98de0ef3284da3" /><Relationship Type="http://schemas.openxmlformats.org/officeDocument/2006/relationships/presProps" Target="/ppt/presProps.xml" Id="R49545546efca4ed3" /><Relationship Type="http://schemas.openxmlformats.org/officeDocument/2006/relationships/tableStyles" Target="/ppt/tableStyles.xml" Id="R701b8c54ada04a67" /><Relationship Type="http://schemas.openxmlformats.org/officeDocument/2006/relationships/slide" Target="/ppt/slides/slide1.xml" Id="R4213c62e61f8411d" /><Relationship Type="http://schemas.openxmlformats.org/officeDocument/2006/relationships/slide" Target="/ppt/slides/slide2.xml" Id="R9f88c7356b474b31" /><Relationship Type="http://schemas.openxmlformats.org/officeDocument/2006/relationships/slide" Target="/ppt/slides/slide3.xml" Id="R2750bcda5e7f4b31" /><Relationship Type="http://schemas.openxmlformats.org/officeDocument/2006/relationships/slide" Target="/ppt/slides/slide4.xml" Id="R1018012ef63e400d" /><Relationship Type="http://schemas.openxmlformats.org/officeDocument/2006/relationships/slide" Target="/ppt/slides/slide5.xml" Id="Reffe4e81b0fe412c" /><Relationship Type="http://schemas.openxmlformats.org/officeDocument/2006/relationships/slide" Target="/ppt/slides/slide6.xml" Id="R505a2c9b737e463c" /><Relationship Type="http://schemas.openxmlformats.org/officeDocument/2006/relationships/slide" Target="/ppt/slides/slide7.xml" Id="R3941f0ffd55f45df" /><Relationship Type="http://schemas.openxmlformats.org/officeDocument/2006/relationships/slide" Target="/ppt/slides/slide8.xml" Id="R035a75b9befe4014" /><Relationship Type="http://schemas.openxmlformats.org/officeDocument/2006/relationships/slide" Target="/ppt/slides/slide9.xml" Id="R85a88a2ddf1a41fb" /><Relationship Type="http://schemas.openxmlformats.org/officeDocument/2006/relationships/slide" Target="/ppt/slides/slide10.xml" Id="R5b9b27ec89fd4e55" /><Relationship Type="http://schemas.openxmlformats.org/officeDocument/2006/relationships/slide" Target="/ppt/slides/slide11.xml" Id="R04e6c8e2e96a4fef" /><Relationship Type="http://schemas.openxmlformats.org/officeDocument/2006/relationships/slide" Target="/ppt/slides/slide12.xml" Id="R323a38b38cbf41c5" /><Relationship Type="http://schemas.openxmlformats.org/officeDocument/2006/relationships/slide" Target="/ppt/slides/slide13.xml" Id="R278573afa8824abf" /><Relationship Type="http://schemas.openxmlformats.org/officeDocument/2006/relationships/slide" Target="/ppt/slides/slide14.xml" Id="R173fa108045e4d2e" /><Relationship Type="http://schemas.openxmlformats.org/officeDocument/2006/relationships/slide" Target="/ppt/slides/slide15.xml" Id="R8ce558084d694519" /><Relationship Type="http://schemas.openxmlformats.org/officeDocument/2006/relationships/slide" Target="/ppt/slides/slide16.xml" Id="Rd33429d1619846bf" /><Relationship Type="http://schemas.openxmlformats.org/officeDocument/2006/relationships/slide" Target="/ppt/slides/slide17.xml" Id="R99925049734d4613" /><Relationship Type="http://schemas.openxmlformats.org/officeDocument/2006/relationships/slide" Target="/ppt/slides/slide18.xml" Id="Ra12f933acd824cb4" /><Relationship Type="http://schemas.openxmlformats.org/officeDocument/2006/relationships/slide" Target="/ppt/slides/slide19.xml" Id="Re12cf4da9e794a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dcc6d815a94f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5b2c4981fe4f3a" /><Relationship Type="http://schemas.openxmlformats.org/officeDocument/2006/relationships/notesMaster" Target="/ppt/notesMasters/notesMaster1.xml" Id="R4f337ed153b74c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8ec1243cda41e0" /><Relationship Type="http://schemas.openxmlformats.org/officeDocument/2006/relationships/notesMaster" Target="/ppt/notesMasters/notesMaster1.xml" Id="R72a6279d21874d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a632ed20894489" /><Relationship Type="http://schemas.openxmlformats.org/officeDocument/2006/relationships/notesMaster" Target="/ppt/notesMasters/notesMaster1.xml" Id="Rc7f10d37532647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1c598de1aa4961" /><Relationship Type="http://schemas.openxmlformats.org/officeDocument/2006/relationships/notesMaster" Target="/ppt/notesMasters/notesMaster1.xml" Id="R72e011bb5e5643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3f32af53f54a78" /><Relationship Type="http://schemas.openxmlformats.org/officeDocument/2006/relationships/notesMaster" Target="/ppt/notesMasters/notesMaster1.xml" Id="Red761330901247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580b46869a4ccd" /><Relationship Type="http://schemas.openxmlformats.org/officeDocument/2006/relationships/notesMaster" Target="/ppt/notesMasters/notesMaster1.xml" Id="Rf01d725add5542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d44a88b4ed4860" /><Relationship Type="http://schemas.openxmlformats.org/officeDocument/2006/relationships/notesMaster" Target="/ppt/notesMasters/notesMaster1.xml" Id="R7a8ee51562a047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b680990f824a0e" /><Relationship Type="http://schemas.openxmlformats.org/officeDocument/2006/relationships/notesMaster" Target="/ppt/notesMasters/notesMaster1.xml" Id="R7371da57e6fa43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e09204e52442ce" /><Relationship Type="http://schemas.openxmlformats.org/officeDocument/2006/relationships/notesMaster" Target="/ppt/notesMasters/notesMaster1.xml" Id="R56960a26dea748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a796814280444d" /><Relationship Type="http://schemas.openxmlformats.org/officeDocument/2006/relationships/notesMaster" Target="/ppt/notesMasters/notesMaster1.xml" Id="R61ad83ac5ffc4c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b06a23414a49d4" /><Relationship Type="http://schemas.openxmlformats.org/officeDocument/2006/relationships/notesMaster" Target="/ppt/notesMasters/notesMaster1.xml" Id="R10c4f9a4ee8c4e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ebf64d9f039417e" /><Relationship Type="http://schemas.openxmlformats.org/officeDocument/2006/relationships/notesMaster" Target="/ppt/notesMasters/notesMaster1.xml" Id="R01d990008e5a49a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cd6d6a2169e4fb0" /><Relationship Type="http://schemas.openxmlformats.org/officeDocument/2006/relationships/notesMaster" Target="/ppt/notesMasters/notesMaster1.xml" Id="R3db4ae628118478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9e5935ab0fb43fc" /><Relationship Type="http://schemas.openxmlformats.org/officeDocument/2006/relationships/notesMaster" Target="/ppt/notesMasters/notesMaster1.xml" Id="R1873c38eb7834f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3c43f67f3194c33" /><Relationship Type="http://schemas.openxmlformats.org/officeDocument/2006/relationships/notesMaster" Target="/ppt/notesMasters/notesMaster1.xml" Id="R9c99333feb1449b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75eb58ca45f4bc2" /><Relationship Type="http://schemas.openxmlformats.org/officeDocument/2006/relationships/notesMaster" Target="/ppt/notesMasters/notesMaster1.xml" Id="Rbf5827e94fed436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b67ae57b833426c" /><Relationship Type="http://schemas.openxmlformats.org/officeDocument/2006/relationships/notesMaster" Target="/ppt/notesMasters/notesMaster1.xml" Id="R2ca06a3c6f2d4e8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4cb2114b5a040ea" /><Relationship Type="http://schemas.openxmlformats.org/officeDocument/2006/relationships/notesMaster" Target="/ppt/notesMasters/notesMaster1.xml" Id="R3c79df704f0a4ea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5f9468675ee4511" /><Relationship Type="http://schemas.openxmlformats.org/officeDocument/2006/relationships/notesMaster" Target="/ppt/notesMasters/notesMaster1.xml" Id="Ra4224475bda449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今天導讀的主題是焦平面分割式短波紅外偏振成像。報告先用一句話說清研究問題，再介紹 SWIR 與偏振量測，之後依序看儀器、校正、不同材料案例，最後說明證據界線和可落地的下一步。人名與實驗室資料請依實際情況補上。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來源：Hamdoh et al., Scientific Reports 15, 22577 (2025), doi:10.1038/s41598-025-06757-5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SWIR 是短波紅外。常見定義可延伸到約 2.5 微米，但本文這台相機只量 0.9 到 1.7 微米。不同波長和材料作用不同，因此有些在可見光不透明的材料，在 SWIR 會顯示透射；水也有波長相關吸收。要分開理解兩件事：SWIR 指觀測的光譜範圍，偏振則描述電場振盪的狀態。補充：這不是熱像相機的長波熱輻射量測。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來源：Hamdoh et al., Scientific Reports 15, 22577 (2025), doi:10.1038/s41598-025-06757-5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者想展示焦平面分割偏振儀如何用於短波紅外，並透過校正與多種材料場景說明系統可量測偏振影像。閱讀上要把研究目的與證據強度分開：這是一項儀器與現象示範，文章並沒有訓練材料分類模型，也沒有用應力標準樣品建立定量反演關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來源：Hamdoh et al., Scientific Reports 15, 22577 (2025), doi:10.1038/s41598-025-06757-5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Stokes 向量由 S0 到 S3 組成。S0 是總強度；S1、S2描述兩組正交線偏振方向的強度差；S3描述左右圓偏振分量差。DoLP、AoLP、DoCP 是把量測轉成較直觀的偏振指標。AoLP以 atan2 計算能保留象限。DoCP 有正負號；非零代表圓偏振分量，不等於完全圓偏振。當 S0 很小或線偏振分量接近零時，指標容易受噪聲影響。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來源：Hamdoh et al., Scientific Reports 15, 22577 (2025), doi:10.1038/s41598-025-06757-5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這是論文的量測架構，不是我們尚未建置的模擬系統。作者使用改裝 FLIR Tau SWIR 相機，640乘512的 InGaAs 感測器，搭配 Mooxtek 微偏振片陣列。四種方向在相鄰像素取樣。要量測 S3，另外在光路中加入消色差四分之一波片。感測器範圍是0.9到1.7微米，波片最佳化範圍是1.1到2.0微米，兩者不完全相同，這是量測系統的波段限制。圖取自論文Fig.9。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來源：Hamdoh et al., Scientific Reports 15, 22577 (2025), doi:10.1038/s41598-025-06757-5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者將偏振態分析器和微偏振片陣列結合，完整重建需要兩張影像：沒有QWP時得到線偏振資訊；插入QWP後再量一次，補足S3相關資訊。這表示完整Stokes不是單張快照。實驗中作者以紅外熱燈、線偏振片及QWP建立已知輸入，再掃描角度做校正。若場景在兩次曝光之間改變，重建結果可能偏移，這對動態場景是實際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來源：Hamdoh et al., Scientific Reports 15, 22577 (2025), doi:10.1038/s41598-025-06757-5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論文Fig.11顯示量測值大致跟隨已知輸入。作者報告DoLP與DoCP平均誤差量值小於0.06，各角度標準差小於0.04，平均百分比誤差分別約3.68%和4.06%。這些數字支持系統在校正條件下的量測趨勢和重複性，但不能直接變成戶外影像每一像素的顯著性門檻。尤其當理論值接近零時，百分比誤差應謹慎解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來源：Hamdoh et al., Scientific Reports 15, 22577 (2025), doi:10.1038/s41598-025-06757-5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組室內影像比較多種常見材料。左側彩色照片顯示物件，接著是S0、AoLP、DoLP和DoCP影像。SWIR強度影像可以揭示與可見光不同的透光差異。但亮暗不能單獨證明材料吸收強弱，還要知道光源、反射方向與曝光條件。這一頁只把它作為定性材料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來源：Hamdoh et al., Scientific Reports 15, 22577 (2025), doi:10.1038/s41598-025-06757-5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個實驗把透明物件放在約158攝氏度的熱板上。熱板高於100攝氏度，因而發出明顯SWIR熱輻射。作者展示稜鏡、玻璃球和半球的S0與偏振影像，並以光線在物體表面多次反射解釋局部偏振圖樣。此處應說「與機制一致」，不要過度宣稱已經以獨立量測排除其他影響。圖取自Fig.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來源：Hamdoh et al., Scientific Reports 15, 22577 (2025), doi:10.1038/s41598-025-06757-5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反射時，反射的s、p偏振分量可能累積不同相位，於是線偏振輸入可以成為橢圓偏振。作者報告特定區域的DoCP最高約0.45，並以物體內部全反射解釋。DoCP不等於光完全圓偏振。這一頁的線條圖是概念示意，不是作者原圖，也沒有用來代表實測幾何的精確光線追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來源：Hamdoh et al., Scientific Reports 15, 22577 (2025), doi:10.1038/s41598-025-06757-5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Wildcat Family是校園中的青銅雕像。作者展示原始強度、AoLP、DoLP及DoCP影像。DoLP圖樣隨表面而變，值最高約0.55。這並非只由材料決定；雕像幾何、鏡面反射、天光偏振方向與拍攝姿態都會影響讀值。圖取自Fig.5。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來源：Hamdoh et al., Scientific Reports 15, 22577 (2025), doi:10.1038/s41598-025-06757-5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.6是另一座青銅雕像。論文指出不同雕像的DoLP和DoCP圖樣不同，並將差異與表面幾何、材質、入射光條件和觀察角度相連。這個比較提醒我們，若目標是做材料辨識，必須控制或記錄場景因素，否則模型可能學到照明與幾何，而非材料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來源：Hamdoh et al., Scientific Reports 15, 22577 (2025), doi:10.1038/s41598-025-06757-5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者由建築外側拍攝玻璃窗，圖中可見週期性偏振條紋，並指出條紋來自製造過程中殘留應力造成的雙折射。雙折射使兩個正交偏振分量具有不同折射率，累積相位延遲取決於折射率差、厚度和波長。原文沒有提供獨立應力測量與反演校正，因此此案例支持現象觀察，不足以換算應力值。圖取自Fig.8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來源：Hamdoh et al., Scientific Reports 15, 22577 (2025), doi:10.1038/s41598-025-06757-5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玻璃窗的偏振影像還要注意光路。穿過玻璃的偏振變化可能包含雙折射和殘留應力；玻璃表面反射則混合了環境光和觀察角度產生的偏振。因此比較反射和透射，首先需要清楚交代拍攝位置、入射方向和偏振光源。這組窗景支持偏振圖像對玻璃現象敏感，但沒有量化拆分每一種來源。圖仍引用Fig.8，實際版面可替換成論文中對應反射場景的Fig.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來源：Hamdoh et al., Scientific Reports 15, 22577 (2025), doi:10.1038/s41598-025-06757-5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結果放在一起看，本文展示偏振影像對材料透射、熱板透明物件、青銅表面及玻璃條紋的敏感性。這些是多個現象的定性示範，還沒有構成有控制條件的材料辨識或應力計量流程。若延伸成自己的研究，需要標準樣品、控制照明和入射角，並取得獨立真值來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來源：Hamdoh et al., Scientific Reports 15, 22577 (2025), doi:10.1038/s41598-025-06757-5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結論要分成三層。第一，校正數據支持儀器在特定條件下量測偏振的能力。第二，論文展示不同材料與場景有不同偏振影像。第三，文章沒有驗證材料分類準確率、普遍有效的材料特徵，也沒有建立玻璃應力的定量反演。再加上低訊號時DoLP和AoLP不穩、完整Stokes需兩次拍攝，應用到動態或戶外場景仍要追加實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來源：Hamdoh et al., Scientific Reports 15, 22577 (2025), doi:10.1038/s41598-025-06757-5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總結三點。第一，論文實際量測的是0.9到1.7微米的SWIR。第二，微偏振片陣列可取得線偏振資訊；完整Stokes重建還需要加入QWP再量一次。第三，材料和玻璃案例顯示研究潛力，但要達到分類或定量應力測量，需要更嚴格的校正和真值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來源：Hamdoh et al., Scientific Reports 15, 22577 (2025), doi:10.1038/s41598-025-06757-5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下一階段建議以Mitsuba 3作為免費的開源偏振模擬起點。先建立光源、樣品、偏振元件與感測器的簡化光路，再逐步加入稜鏡全反射、玻璃雙折射和感測器分析器。軟體能處理偏振與Stokes輸出，但SWIR材料係數、波長配置和微偏振片實作仍需逐項確認。模擬的用途是測試架構與提出預期，不是取代真實儀器校正。這是未來工作規劃，尚未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來源：Hamdoh et al., Scientific Reports 15, 22577 (2025), doi:10.1038/s41598-025-06757-5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主要引用來源為Hamdoh等人於2025年發表在Scientific Reports的論文。本文圖像引用原文圖3至圖9，正式分享時請保留作者、圖號與期刊來源。概念示意圖為本簡報自製，不能當作實測圖或精確光線模擬。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來源：Hamdoh et al., Scientific Reports 15, 22577 (2025), doi:10.1038/s41598-025-06757-5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192bd302214c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86764f03f641f2" /><Relationship Type="http://schemas.openxmlformats.org/officeDocument/2006/relationships/slideLayout" Target="/ppt/slideLayouts/slideLayout1.xml" Id="Rc3322bc6fd7a4e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322bc6fd7a4e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ed0239c0b4bd2" /><Relationship Type="http://schemas.openxmlformats.org/officeDocument/2006/relationships/notesSlide" Target="/ppt/notesSlides/notesSlide1.xml" Id="Rc9e2da38f0d941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8c1d8651b4741" /><Relationship Type="http://schemas.openxmlformats.org/officeDocument/2006/relationships/notesSlide" Target="/ppt/notesSlides/notesSlide2.xml" Id="Raed029b136e946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074448a1c4105" /><Relationship Type="http://schemas.openxmlformats.org/officeDocument/2006/relationships/notesSlide" Target="/ppt/notesSlides/notesSlide3.xml" Id="R6a34c90fb18140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c8de57b5245ed" /><Relationship Type="http://schemas.openxmlformats.org/officeDocument/2006/relationships/notesSlide" Target="/ppt/notesSlides/notesSlide4.xml" Id="R86b0ee7f56364f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6cc6d3cde4759" /><Relationship Type="http://schemas.openxmlformats.org/officeDocument/2006/relationships/image" Target="/ppt/media/image.png" Id="R93c9af88c2e34277" /><Relationship Type="http://schemas.openxmlformats.org/officeDocument/2006/relationships/notesSlide" Target="/ppt/notesSlides/notesSlide5.xml" Id="R4ed39e9a8a364c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7caa51e2c4cd3" /><Relationship Type="http://schemas.openxmlformats.org/officeDocument/2006/relationships/notesSlide" Target="/ppt/notesSlides/notesSlide6.xml" Id="Rc743543cdb0548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f0d106c2d4b84" /><Relationship Type="http://schemas.openxmlformats.org/officeDocument/2006/relationships/image" Target="/ppt/media/image2.png" Id="Rd20425d38ca949db" /><Relationship Type="http://schemas.openxmlformats.org/officeDocument/2006/relationships/notesSlide" Target="/ppt/notesSlides/notesSlide7.xml" Id="Rf45dea80b8df4b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5ca69b07745dc" /><Relationship Type="http://schemas.openxmlformats.org/officeDocument/2006/relationships/image" Target="/ppt/media/image3.png" Id="R0cd529b5eeb44d00" /><Relationship Type="http://schemas.openxmlformats.org/officeDocument/2006/relationships/notesSlide" Target="/ppt/notesSlides/notesSlide8.xml" Id="Raffd1299babd4d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3d4db9db3436e" /><Relationship Type="http://schemas.openxmlformats.org/officeDocument/2006/relationships/image" Target="/ppt/media/image4.png" Id="Ref44f78d8009452a" /><Relationship Type="http://schemas.openxmlformats.org/officeDocument/2006/relationships/notesSlide" Target="/ppt/notesSlides/notesSlide9.xml" Id="Rf77dd53acb514c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6edd86fac4da4" /><Relationship Type="http://schemas.openxmlformats.org/officeDocument/2006/relationships/notesSlide" Target="/ppt/notesSlides/notesSlide10.xml" Id="R127f96fab5b747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6208e5f474b16" /><Relationship Type="http://schemas.openxmlformats.org/officeDocument/2006/relationships/image" Target="/ppt/media/image5.png" Id="R0b556d51567d4f20" /><Relationship Type="http://schemas.openxmlformats.org/officeDocument/2006/relationships/notesSlide" Target="/ppt/notesSlides/notesSlide11.xml" Id="R2ec0494276c845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8c13e6e204884" /><Relationship Type="http://schemas.openxmlformats.org/officeDocument/2006/relationships/image" Target="/ppt/media/image6.png" Id="R903ef1ceb4ef476f" /><Relationship Type="http://schemas.openxmlformats.org/officeDocument/2006/relationships/notesSlide" Target="/ppt/notesSlides/notesSlide12.xml" Id="Rc50d1556eb66408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51a1a67a74959" /><Relationship Type="http://schemas.openxmlformats.org/officeDocument/2006/relationships/image" Target="/ppt/media/image7.png" Id="R9f1f93232da64bdd" /><Relationship Type="http://schemas.openxmlformats.org/officeDocument/2006/relationships/notesSlide" Target="/ppt/notesSlides/notesSlide13.xml" Id="R1ca9f67b3ec54bf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d9859a42241ef" /><Relationship Type="http://schemas.openxmlformats.org/officeDocument/2006/relationships/image" Target="/ppt/media/image8.png" Id="R0a1ad23515294eda" /><Relationship Type="http://schemas.openxmlformats.org/officeDocument/2006/relationships/notesSlide" Target="/ppt/notesSlides/notesSlide14.xml" Id="Ra7aae2bbe39044e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8f3f50861426e" /><Relationship Type="http://schemas.openxmlformats.org/officeDocument/2006/relationships/notesSlide" Target="/ppt/notesSlides/notesSlide15.xml" Id="R9f661865e155400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e89844c8d4079" /><Relationship Type="http://schemas.openxmlformats.org/officeDocument/2006/relationships/notesSlide" Target="/ppt/notesSlides/notesSlide16.xml" Id="Ree38296e097543b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67eccd5684434" /><Relationship Type="http://schemas.openxmlformats.org/officeDocument/2006/relationships/notesSlide" Target="/ppt/notesSlides/notesSlide17.xml" Id="R79209b82268a4f9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e6bbfe631462d" /><Relationship Type="http://schemas.openxmlformats.org/officeDocument/2006/relationships/notesSlide" Target="/ppt/notesSlides/notesSlide18.xml" Id="Raf5639c92fa643c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8cc575a934f2a" /><Relationship Type="http://schemas.openxmlformats.org/officeDocument/2006/relationships/notesSlide" Target="/ppt/notesSlides/notesSlide19.xml" Id="Rdf70e51cbe624b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3AE0EF-B38E-4573-AAC1-B4DE3CAF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163300" cy="5962650"/>
          </a:xfrm>
          <a:prstGeom xmlns:a="http://schemas.openxmlformats.org/drawingml/2006/main" prst="roundRect">
            <a:avLst>
              <a:gd name="adj" fmla="val 127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7620">
            <a:solidFill>
              <a:srgbClr val="FFFD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091DD-9550-4FD1-9EC3-142A2A93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"/>
            <a:ext cx="10706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704A2C"/>
          </a:solidFill>
          <a:ln xmlns:a="http://schemas.openxmlformats.org/drawingml/2006/main" w="7620">
            <a:solidFill>
              <a:srgbClr val="704A2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651B4-2C99-4E68-882F-794A793E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9E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9EE"/>
                </a:solidFill>
                <a:latin typeface="Microsoft JhengHei"/>
                <a:ea typeface="Microsoft JhengHei"/>
                <a:cs typeface="Microsoft JhengHei"/>
              </a:rPr>
              <a:t>文獻導讀  /  SWIR × 偏振成像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54A94-3465-4722-A399-C0F07EF6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43050"/>
            <a:ext cx="714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看見光穿過材料之後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B9040-A7AD-4332-BB62-4D171B3E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28875"/>
            <a:ext cx="704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8C63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C633F"/>
                </a:solidFill>
                <a:latin typeface="Microsoft JhengHei"/>
                <a:ea typeface="Microsoft JhengHei"/>
                <a:cs typeface="Microsoft JhengHei"/>
              </a:rPr>
              <a:t>焦平面分割式短波紅外偏振儀的量測與案例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88BAA-6E6D-4E5B-9FC3-CE82D1EF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86125"/>
            <a:ext cx="1809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DE5DC"/>
          </a:solidFill>
          <a:ln xmlns:a="http://schemas.openxmlformats.org/drawingml/2006/main" w="7620">
            <a:solidFill>
              <a:srgbClr val="DDE5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DC805-0071-4300-BD4B-38D08316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147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77D8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77D88"/>
                </a:solidFill>
                <a:latin typeface="Microsoft JhengHei"/>
                <a:ea typeface="Microsoft JhengHei"/>
                <a:cs typeface="Microsoft JhengHei"/>
              </a:rPr>
              <a:t>研究論文導讀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7490B-4186-459B-9EF9-1ADB0C0D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8620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Hamdoh et al.  ·  Scientific Reports  · 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42D6C-027E-4973-A6CC-46829D7B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771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報告人：[姓名]   指導教授：[姓名]   實驗室：[單位]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375C88-4487-47E1-9B22-1F283DE8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62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2026.10.08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CCDF4E-9232-4C54-B630-A412F0D9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5811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DC"/>
          </a:solidFill>
          <a:ln xmlns:a="http://schemas.openxmlformats.org/drawingml/2006/main" w="7620">
            <a:solidFill>
              <a:srgbClr val="DDE5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B0C3A0-A25F-4EEF-AA5A-C011C9FD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543175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7CAEAB-7B22-4F55-8BB1-F49D993B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1095375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5A"/>
          </a:solidFill>
          <a:ln xmlns:a="http://schemas.openxmlformats.org/drawingml/2006/main" w="7620">
            <a:solidFill>
              <a:srgbClr val="C9785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D5223C-FACD-448F-9824-3BFEC7F2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0005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67D"/>
          </a:solidFill>
          <a:ln xmlns:a="http://schemas.openxmlformats.org/drawingml/2006/main" w="7620">
            <a:solidFill>
              <a:srgbClr val="89967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FA4F92-29BA-4E30-9E87-A0AB936A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3360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SWIR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E3CA2C-EBCB-4B29-93FE-839211E7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14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rPr>
              <a:t>S₀–S₃</a:t>
            </a:r>
          </a:p>
        </p:txBody>
      </p:sp>
    </p:spTree>
    <p:extLst>
      <p:ext uri="{BB962C8B-B14F-4D97-AF65-F5344CB8AC3E}">
        <p14:creationId xmlns:p14="http://schemas.microsoft.com/office/powerpoint/2010/main" val="18198983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449F08-3CE9-4C02-8E4B-6441AB13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3919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704A2C"/>
          </a:solidFill>
          <a:ln xmlns:a="http://schemas.openxmlformats.org/drawingml/2006/main" w="7620">
            <a:solidFill>
              <a:srgbClr val="704A2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D0B50-6A0A-45C3-BBF5-F4F0F366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43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55430-4D5C-4B6F-8CD3-D75DCD2C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rPr>
              <a:t>01 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602CB-8706-403C-9D7D-C6D6270F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57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rPr>
              <a:t>SWIR 看見了什麼？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43C53-3C58-4741-9C94-A3C14342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73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DCF"/>
          </a:solidFill>
          <a:ln xmlns:a="http://schemas.openxmlformats.org/drawingml/2006/main" w="7620">
            <a:solidFill>
              <a:srgbClr val="E8DDC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A051D-7F89-4702-9B16-641D2B19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953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5A"/>
          </a:solidFill>
          <a:ln xmlns:a="http://schemas.openxmlformats.org/drawingml/2006/main" w="7620">
            <a:solidFill>
              <a:srgbClr val="C978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AC3F4-EA7C-4E9B-9A26-7B6402A9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Hamdoh et al., Scientific Reports 15, 22577 (2025), doi:10.1038/s41598-025-06757-5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44552-BFE2-4015-8395-71425616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B604F-B815-4355-BE08-514E3D9B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7160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0.9–2.5 μm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FAC643-1F17-46CB-B739-DFBB3040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050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短波紅外的常用範圍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3C045B-6FE6-4BE1-B46F-04A9073E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535305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DDE5DC"/>
          </a:solidFill>
          <a:ln xmlns:a="http://schemas.openxmlformats.org/drawingml/2006/main" w="7620">
            <a:solidFill>
              <a:srgbClr val="DDE5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B6B8F8-4B2D-43A3-8D96-D9072707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77D8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577D88"/>
                </a:solidFill>
                <a:latin typeface="Microsoft JhengHei"/>
                <a:ea typeface="Microsoft JhengHei"/>
                <a:cs typeface="Microsoft JhengHei"/>
              </a:rPr>
              <a:t>本文相機實際量測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06CA5-05BB-4057-B231-1DEC33D2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0.9–1.7 μm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9EC573-38B7-4763-ADF6-AD6E73DD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765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範圍較廣義 SWIR 窄；解讀結果時要分清楚。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35786E-3411-4ECC-BFDF-CB685308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104394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7620">
            <a:solidFill>
              <a:srgbClr val="FFFDF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275FEF-D17E-4ED2-9EC8-B4AA0001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1529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波段改變材料與光的互動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FC3807-182D-419D-9EA6-A91F476B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657725"/>
            <a:ext cx="942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有些可見光不透明材料，在 SWIR 可能透光；水在約 1.45 μm 附近有吸收特徵。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349A58-F31A-4CEA-845A-6FD09E6D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62625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F200EF-8AEA-40F3-A08D-DA7B403B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SWIR：看哪一段光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95B675-C853-48AA-BFB5-416CD619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762625"/>
            <a:ext cx="3048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9785A"/>
          </a:solidFill>
          <a:ln xmlns:a="http://schemas.openxmlformats.org/drawingml/2006/main" w="7620">
            <a:solidFill>
              <a:srgbClr val="C9785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0544E9-ADEB-498C-96BD-9D87E992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7912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偏振：看光如何振盪</a:t>
            </a:r>
          </a:p>
        </p:txBody>
      </p:sp>
    </p:spTree>
    <p:extLst>
      <p:ext uri="{BB962C8B-B14F-4D97-AF65-F5344CB8AC3E}">
        <p14:creationId xmlns:p14="http://schemas.microsoft.com/office/powerpoint/2010/main" val="3413081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C5E140-1A92-428A-BB57-64AA7F0C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3919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704A2C"/>
          </a:solidFill>
          <a:ln xmlns:a="http://schemas.openxmlformats.org/drawingml/2006/main" w="7620">
            <a:solidFill>
              <a:srgbClr val="704A2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A1DD9-EAD8-4E0F-B61F-771F0BD2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43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B9B49-15FB-4ED4-A6C1-DB7EA956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rPr>
              <a:t>01 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F19D3-58C1-447B-B068-8882F2E0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57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rPr>
              <a:t>研究問題：這套儀器能可靠量到哪些偏振現象？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CBB88-7C0D-4B50-80E3-66E1262D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73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DCF"/>
          </a:solidFill>
          <a:ln xmlns:a="http://schemas.openxmlformats.org/drawingml/2006/main" w="7620">
            <a:solidFill>
              <a:srgbClr val="E8DDC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1B7588-361D-4B0B-9FD4-3A7AFD50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953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5A"/>
          </a:solidFill>
          <a:ln xmlns:a="http://schemas.openxmlformats.org/drawingml/2006/main" w="7620">
            <a:solidFill>
              <a:srgbClr val="C978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07D86C-5A86-4E1D-8FB3-C845CEA7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Hamdoh et al., Scientific Reports 15, 22577 (2025), doi:10.1038/s41598-025-06757-5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50025C-7F99-4697-9632-877C346E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B7C84-3E97-4BD0-AD68-3ECA5795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52550"/>
            <a:ext cx="219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rPr>
              <a:t>研究缺口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B4BDC-8A42-4699-A001-4BA82B4A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緊湊型 SWIR 相機如何擴增偏振量測？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27EDC-DB94-4AEA-8CDF-7CBCD2C4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8098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7BE45D-9C85-4B47-B7DA-FBC999E9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8194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36A8EF-4FF6-45C9-BA20-500F879B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0987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完成量測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42A2FF-AE37-44B4-893C-C589BF07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09925"/>
            <a:ext cx="2514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由微偏振片陣列取得線偏振資訊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14B1B7-BB95-48A0-829D-C42A7FCD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98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ED84F7-7B26-4968-9FEA-645E4D33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194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5BF709-6FBB-43C8-BC6D-2F9DB16C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0987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驗證準確度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CB238B-9790-4FBD-98B4-2FEE7757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09925"/>
            <a:ext cx="2514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用已知輸入校正 DoLP / DoCP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BB250F-2D86-4479-88D9-2952CF13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8098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F64CAF-A99D-46BF-956F-7EBF99EF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8194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AF4A46-FBDC-4CF4-9E2C-09DE777A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80987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觀察材料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750CBD-7DBE-4D39-89A7-95FFA5B9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209925"/>
            <a:ext cx="2514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以材料與場景展示影像差異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3E93EE-ABE7-42A4-B924-758E7E33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10001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8DDCF"/>
          </a:solidFill>
          <a:ln xmlns:a="http://schemas.openxmlformats.org/drawingml/2006/main" w="7620">
            <a:solidFill>
              <a:srgbClr val="E8DD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8DC8C6-D6A4-4D4E-9AC7-1D18014D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752975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C63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8C633F"/>
                </a:solidFill>
                <a:latin typeface="Microsoft JhengHei"/>
                <a:ea typeface="Microsoft JhengHei"/>
                <a:cs typeface="Microsoft JhengHei"/>
              </a:rPr>
              <a:t>本文定位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622C41-4D52-4A53-9606-8AA98D6D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76775"/>
            <a:ext cx="571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儀器建置＋校正＋多場景示範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C839F1-21AD-495D-8499-A32E38D7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133975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未建立分類器，也未定量反演材料應力。</a:t>
            </a:r>
          </a:p>
        </p:txBody>
      </p:sp>
    </p:spTree>
    <p:extLst>
      <p:ext uri="{BB962C8B-B14F-4D97-AF65-F5344CB8AC3E}">
        <p14:creationId xmlns:p14="http://schemas.microsoft.com/office/powerpoint/2010/main" val="1571885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BA8EE0-6D22-4168-B08B-2B01B0E4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3919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704A2C"/>
          </a:solidFill>
          <a:ln xmlns:a="http://schemas.openxmlformats.org/drawingml/2006/main" w="7620">
            <a:solidFill>
              <a:srgbClr val="704A2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2EBA5-DB96-4253-88CA-65925CC9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43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A1FC7-EE7E-402F-995C-9237095D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rPr>
              <a:t>02 量測原理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68141-28A3-4DEE-A2D0-033CB1A0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57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rPr>
              <a:t>用四個 Stokes 參數描述偏振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72997-2351-44D8-8D1A-1C70CCF8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73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DCF"/>
          </a:solidFill>
          <a:ln xmlns:a="http://schemas.openxmlformats.org/drawingml/2006/main" w="7620">
            <a:solidFill>
              <a:srgbClr val="E8DDC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DA71E-46AA-4CC2-95D1-57D3DBEA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953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5A"/>
          </a:solidFill>
          <a:ln xmlns:a="http://schemas.openxmlformats.org/drawingml/2006/main" w="7620">
            <a:solidFill>
              <a:srgbClr val="C978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7C1EF1-71F6-4DF7-B775-4EE65E87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Hamdoh et al., Scientific Reports 15, 22577 (2025), doi:10.1038/s41598-025-06757-5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FD76F-B577-4CC9-8B71-BBB9EE8F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105FD-2E81-4523-A23F-B879EAF7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24193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E7DAC-F291-4BBA-8A50-17A3EA15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S₀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048643-910D-40EE-A5EB-220C0CFF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總光強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25E39D-116E-4A59-92A2-46E18FA4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4797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影像亮度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3E5AF7-C2BA-4947-A883-3E7EE193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09725"/>
            <a:ext cx="24193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7620">
            <a:solidFill>
              <a:srgbClr val="FFFDF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77EC79-BF2D-4202-A061-59896011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09750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rPr>
              <a:t>S₁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DB69BF-1933-43E7-98B1-0EAABFD1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574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水平 − 垂直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7858F2-6173-46D4-8801-1EC20ED6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4797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線偏振分量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AE76D5-4899-4DAC-A0AA-E53EE37D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09725"/>
            <a:ext cx="24193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7620">
            <a:solidFill>
              <a:srgbClr val="FFFDF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380550-DDB0-495F-BB20-0B7582DC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09750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rPr>
              <a:t>S₂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A70975-BB16-47B6-AFE2-F77DE010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574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+45° − −45°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FC0622-89A2-4935-AFEC-D941138C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4797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斜向線偏振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C2BC11-9337-481A-AE23-7FD3627C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09725"/>
            <a:ext cx="24193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7620">
            <a:solidFill>
              <a:srgbClr val="FFFDF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6E883A-8F85-4FC6-9DB7-9A8AF166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09750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rPr>
              <a:t>S₃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D14574-2E5C-4753-A9BE-F0B091C2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574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右旋 − 左旋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D91BAF-A303-4EB1-9140-DC7ACFCD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4797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圓偏振分量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819FCA-4B40-41F5-B95C-61A89385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DoLP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D1CE4E-14CB-4816-B5A7-B379C0A2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243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√(S₁² + S₂²) / S₀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EAA2D1-34E1-4879-A4C3-5A6351FB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433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AoLP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646151-B41E-4121-8DBF-0F2053B7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24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½ atan2(S₂, S₁)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4320B8-0F18-4B19-8D04-651E9598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9433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DoCP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6CC460-C9EF-425C-9A4F-48F235EE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3243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S₃ / S₀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F536E6-3AD0-47E4-80CB-FB7940FC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67325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rPr>
              <a:t>低訊號區：角度與偏振度都要搭配強度、雜訊判讀。</a:t>
            </a:r>
          </a:p>
        </p:txBody>
      </p:sp>
    </p:spTree>
    <p:extLst>
      <p:ext uri="{BB962C8B-B14F-4D97-AF65-F5344CB8AC3E}">
        <p14:creationId xmlns:p14="http://schemas.microsoft.com/office/powerpoint/2010/main" val="18709833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5AB5D0-4385-4BC0-A8D9-774F7D13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3919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704A2C"/>
          </a:solidFill>
          <a:ln xmlns:a="http://schemas.openxmlformats.org/drawingml/2006/main" w="7620">
            <a:solidFill>
              <a:srgbClr val="704A2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6D626-8257-4270-8848-F47FC557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43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A8165-67C0-40BE-820E-F28FC71B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rPr>
              <a:t>03 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25B45-F806-46D8-97AC-6BD20C3F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57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rPr>
              <a:t>硬體：微偏振片陣列直接貼合 SWIR 感測器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DE484-A62D-4253-A6A6-89DC2C19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73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DCF"/>
          </a:solidFill>
          <a:ln xmlns:a="http://schemas.openxmlformats.org/drawingml/2006/main" w="7620">
            <a:solidFill>
              <a:srgbClr val="E8DDC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8EE2D-E528-495A-BAC4-CB98A573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953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5A"/>
          </a:solidFill>
          <a:ln xmlns:a="http://schemas.openxmlformats.org/drawingml/2006/main" w="7620">
            <a:solidFill>
              <a:srgbClr val="C978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31C82-0C66-46E0-9C39-2894B2FC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Hamdoh et al., Scientific Reports 15, 22577 (2025), doi:10.1038/s41598-025-06757-5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CE2B8-B747-4053-88B5-3069E49B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c9af88c2e34277"/>
          <a:stretch xmlns:a="http://schemas.openxmlformats.org/drawingml/2006/main"/>
        </p:blipFill>
        <p:spPr>
          <a:xfrm xmlns:a="http://schemas.openxmlformats.org/drawingml/2006/main">
            <a:off x="826839" y="1295400"/>
            <a:ext cx="5737722" cy="3714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450ED-D4B0-41DF-A0CC-269353EB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1809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C545D-7D49-4ECC-91F6-3AE27508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552575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640 × 512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73656-4DEB-4742-92F4-C874A434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524000"/>
            <a:ext cx="19526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DE5DC"/>
          </a:solidFill>
          <a:ln xmlns:a="http://schemas.openxmlformats.org/drawingml/2006/main" w="7620">
            <a:solidFill>
              <a:srgbClr val="DDE5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D30FC0-72CF-4A28-AA84-5F60F7D3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552575"/>
            <a:ext cx="1800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77D8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77D88"/>
                </a:solidFill>
                <a:latin typeface="Microsoft JhengHei"/>
                <a:ea typeface="Microsoft JhengHei"/>
                <a:cs typeface="Microsoft JhengHei"/>
              </a:rPr>
              <a:t>0.9–1.7 μm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DF35D-C954-4AE0-848F-83EA3268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574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InGaAs 感測器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3B10EF-2292-4EF6-9775-50818C77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813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2 × 2 微偏振片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0B1F83-E2C9-49B3-B410-D9EADBF7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956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0° / 45° / 90° / 135°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76813F-9C32-4F56-B7F0-8AFEFCB9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76700"/>
            <a:ext cx="4000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DDCF"/>
          </a:solidFill>
          <a:ln xmlns:a="http://schemas.openxmlformats.org/drawingml/2006/main" w="7620">
            <a:solidFill>
              <a:srgbClr val="E8DD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9D6703-C855-4402-BF9A-717BA589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386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rPr>
              <a:t>量 S₃ 時加入 QWP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29A964-BB1F-4350-AF41-702CDE06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91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消色差波片設計範圍 1.1–2.0 μm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253BBB-5895-4191-B4E9-11CBA576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圖：論文 Fig. 9；此圖為作者實驗配置</a:t>
            </a:r>
          </a:p>
        </p:txBody>
      </p:sp>
    </p:spTree>
    <p:extLst>
      <p:ext uri="{BB962C8B-B14F-4D97-AF65-F5344CB8AC3E}">
        <p14:creationId xmlns:p14="http://schemas.microsoft.com/office/powerpoint/2010/main" val="6172066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4A3DDC-4667-421A-951D-A792646C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3919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704A2C"/>
          </a:solidFill>
          <a:ln xmlns:a="http://schemas.openxmlformats.org/drawingml/2006/main" w="7620">
            <a:solidFill>
              <a:srgbClr val="704A2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67F58-0385-4DEB-B119-2A63066A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43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70081-B7BD-4095-BD72-CDDF80B9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rPr>
              <a:t>03 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8ED01-8226-4FAA-AA13-FBF5386A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57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rPr>
              <a:t>完整 Stokes：兩張影像重建，而非單張即時量測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918411-A7AB-4D8F-AE62-5D00C5D6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73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DCF"/>
          </a:solidFill>
          <a:ln xmlns:a="http://schemas.openxmlformats.org/drawingml/2006/main" w="7620">
            <a:solidFill>
              <a:srgbClr val="E8DDC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C2216-1E34-4883-86B3-E16A442F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953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5A"/>
          </a:solidFill>
          <a:ln xmlns:a="http://schemas.openxmlformats.org/drawingml/2006/main" w="7620">
            <a:solidFill>
              <a:srgbClr val="C978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0411C-9B76-4006-A4EF-64415824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Hamdoh et al., Scientific Reports 15, 22577 (2025), doi:10.1038/s41598-025-06757-5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1B8C9-038F-4DCA-9572-5A0F8C38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7134C3-3911-471A-9817-A4AC509C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304800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7620">
            <a:solidFill>
              <a:srgbClr val="FFFDF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5E839A-205F-47F6-B35A-F9FB5606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431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6059E5-499C-473C-ACDC-2F4B86A8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53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13434-DC0F-4C7F-BD82-9DBF92EB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91465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不加 QWP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21A4F5-2399-4C9F-BC2C-E975FA5B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29000"/>
            <a:ext cx="255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取得 S₀、S₁、S₂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83074-6DE3-4C88-A613-91DE40EE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52725"/>
            <a:ext cx="45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9D2E74-4694-493B-BD23-081A5EB9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24050"/>
            <a:ext cx="304800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7620">
            <a:solidFill>
              <a:srgbClr val="FFFDF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AD9988-8894-4841-9169-B1C99582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431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5A"/>
          </a:solidFill>
          <a:ln xmlns:a="http://schemas.openxmlformats.org/drawingml/2006/main" w="7620">
            <a:solidFill>
              <a:srgbClr val="C9785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BB8A3C-DE7F-41A0-8DC2-5CA2757A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90750"/>
            <a:ext cx="53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4A5C50-A541-432A-81E7-3E912DAD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1465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加入 QWP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0A5C7C-0F09-4593-96E2-E8D0FBDB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429000"/>
            <a:ext cx="255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取得含 S₃ 的分析資訊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91DF2A-ACA7-4C14-86DC-C52A4D3C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52725"/>
            <a:ext cx="45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A859F7-F6DC-40C5-AC02-CE307EDF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24050"/>
            <a:ext cx="304800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7620">
            <a:solidFill>
              <a:srgbClr val="FFFDF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F85825-E108-4C33-89A1-061CCB35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431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DB76B2-064C-471A-B9F9-37A6ED0B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53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9FC491-D4B7-43B6-8255-FEDEC4D7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91465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影像重建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B5EE27-E0F9-40F7-B831-6034F3B4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429000"/>
            <a:ext cx="255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合併兩次量測估計 S₀–S₃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70C4BA-FC51-4BF5-AD29-677B46D9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10382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DDE5DC"/>
          </a:solidFill>
          <a:ln xmlns:a="http://schemas.openxmlformats.org/drawingml/2006/main" w="7620">
            <a:solidFill>
              <a:srgbClr val="DDE5D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6CCF89-757A-49F6-B761-34C278D3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7D8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77D88"/>
                </a:solidFill>
                <a:latin typeface="Microsoft JhengHei"/>
                <a:ea typeface="Microsoft JhengHei"/>
                <a:cs typeface="Microsoft JhengHei"/>
              </a:rPr>
              <a:t>校正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38CD4A-781A-4456-81F0-E95280E5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24400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紅外熱燈 + 已知線偏振輸入 + QWP 角度掃描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2AB9E5-6C6D-4448-A6DE-45E4F4AF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1720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兩次曝光：物體移動或照明改變都可能造成不一致。</a:t>
            </a:r>
          </a:p>
        </p:txBody>
      </p:sp>
    </p:spTree>
    <p:extLst>
      <p:ext uri="{BB962C8B-B14F-4D97-AF65-F5344CB8AC3E}">
        <p14:creationId xmlns:p14="http://schemas.microsoft.com/office/powerpoint/2010/main" val="3418735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7F294B-E59B-47B2-AB80-10C870FB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3919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704A2C"/>
          </a:solidFill>
          <a:ln xmlns:a="http://schemas.openxmlformats.org/drawingml/2006/main" w="7620">
            <a:solidFill>
              <a:srgbClr val="704A2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DFB64-C626-4D96-B573-18B20C74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43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E5FB7-1589-4B68-B904-47404FFC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rPr>
              <a:t>04 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12EBD-9132-457B-A558-EFE27AF0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57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rPr>
              <a:t>校正支持量測趨勢；應用時仍須看局部不確定度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0E196-D87B-467C-8B8A-216D0108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73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DCF"/>
          </a:solidFill>
          <a:ln xmlns:a="http://schemas.openxmlformats.org/drawingml/2006/main" w="7620">
            <a:solidFill>
              <a:srgbClr val="E8DDC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B0E73-0900-41D0-B2C4-18FD65ED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953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5A"/>
          </a:solidFill>
          <a:ln xmlns:a="http://schemas.openxmlformats.org/drawingml/2006/main" w="7620">
            <a:solidFill>
              <a:srgbClr val="C978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13919-EF4A-4253-BDC6-9F16300D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Hamdoh et al., Scientific Reports 15, 22577 (2025), doi:10.1038/s41598-025-06757-5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35CF0-B129-46FB-9571-30E942C7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6D524-CFB5-477E-BB8B-4FA9AC4D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76375"/>
            <a:ext cx="47625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7620">
            <a:solidFill>
              <a:srgbClr val="FFFDF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60CE6-D699-4EF9-A422-1F705B50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526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作者報告的校正結果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F98D31-DCDE-4E3F-9527-E9FD93D0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5267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rPr>
              <a:t>&lt; 0.06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50F67F-508B-4B38-BAFE-7844B71E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3857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DoLP / DoCP 平均誤差量值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48CB14-679C-4386-97AB-F2778195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0997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577D8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577D88"/>
                </a:solidFill>
                <a:latin typeface="Microsoft JhengHei"/>
                <a:ea typeface="Microsoft JhengHei"/>
                <a:cs typeface="Microsoft JhengHei"/>
              </a:rPr>
              <a:t>&lt; 0.04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64C1CF-94C6-4E52-97C8-D1484F60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05300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各角度標準差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425d38ca949db"/>
          <a:stretch xmlns:a="http://schemas.openxmlformats.org/drawingml/2006/main"/>
        </p:blipFill>
        <p:spPr>
          <a:xfrm xmlns:a="http://schemas.openxmlformats.org/drawingml/2006/main">
            <a:off x="6000750" y="1752476"/>
            <a:ext cx="5238750" cy="1962398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B2F88F-013D-43CB-9552-DFC67162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8576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輸入偏振角度（°）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7A900-33CC-4D09-8CDB-6AFDFD86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053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平均百分比誤差：DoLP 3.68%  ·  DoCP 4.06%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5DA3F7-B6EB-49C2-8B0C-61F4D08C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48250"/>
            <a:ext cx="1033462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8DDCF"/>
          </a:solidFill>
          <a:ln xmlns:a="http://schemas.openxmlformats.org/drawingml/2006/main" w="7620">
            <a:solidFill>
              <a:srgbClr val="E8DDC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3D36BD-7817-4B42-8D3D-B3FE3A44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C63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8C633F"/>
                </a:solidFill>
                <a:latin typeface="Microsoft JhengHei"/>
                <a:ea typeface="Microsoft JhengHei"/>
                <a:cs typeface="Microsoft JhengHei"/>
              </a:rPr>
              <a:t>解讀提醒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39E973-A3A1-4A5B-8BB9-E7C3E7AC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62550"/>
            <a:ext cx="790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這些數字是特定校正條件的表現，不是每個場景像素的通用誤差門檻。</a:t>
            </a:r>
          </a:p>
        </p:txBody>
      </p:sp>
    </p:spTree>
    <p:extLst>
      <p:ext uri="{BB962C8B-B14F-4D97-AF65-F5344CB8AC3E}">
        <p14:creationId xmlns:p14="http://schemas.microsoft.com/office/powerpoint/2010/main" val="890522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B5B17A-D317-4AED-9446-D3A947B3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3919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704A2C"/>
          </a:solidFill>
          <a:ln xmlns:a="http://schemas.openxmlformats.org/drawingml/2006/main" w="7620">
            <a:solidFill>
              <a:srgbClr val="704A2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61FB4-264C-44BF-9E3A-E96DBEE4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43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FCD54-B772-4223-B73B-F47C0F6A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rPr>
              <a:t>04 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8AD7B-FEAE-4FB4-8EF0-99636366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57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rPr>
              <a:t>室內材料：強度影像先呈現透光差異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EFED3-0CFE-48D4-AFE5-29B36F6A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73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DCF"/>
          </a:solidFill>
          <a:ln xmlns:a="http://schemas.openxmlformats.org/drawingml/2006/main" w="7620">
            <a:solidFill>
              <a:srgbClr val="E8DDC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908A8-635A-46EA-9512-DB563CE5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953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5A"/>
          </a:solidFill>
          <a:ln xmlns:a="http://schemas.openxmlformats.org/drawingml/2006/main" w="7620">
            <a:solidFill>
              <a:srgbClr val="C978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1F144-6110-49F4-8360-3593ACCF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Hamdoh et al., Scientific Reports 15, 22577 (2025), doi:10.1038/s41598-025-06757-5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6D437-9D18-4E35-A20B-1FB3F75D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d529b5eeb44d00"/>
          <a:stretch xmlns:a="http://schemas.openxmlformats.org/drawingml/2006/main"/>
        </p:blipFill>
        <p:spPr>
          <a:xfrm xmlns:a="http://schemas.openxmlformats.org/drawingml/2006/main">
            <a:off x="723900" y="1345483"/>
            <a:ext cx="7124700" cy="3271684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EEC4B6-A793-4143-92D5-CB969500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002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先問：哪些光穿過了材料？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4EFEEA-893C-4581-B2B3-CA7B1175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3365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作者比較塑膠、矽片、玻璃與金屬等物件的 S₀ 與偏振圖。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F8C2C-E77C-47BA-8570-BF6564A5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67125"/>
            <a:ext cx="13811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29AE4-C307-44A3-B1AD-B90A724A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695700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材料差異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FAE0A4-EDFA-4601-AFBE-3A99BD61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667125"/>
            <a:ext cx="13811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9785A"/>
          </a:solidFill>
          <a:ln xmlns:a="http://schemas.openxmlformats.org/drawingml/2006/main" w="7620">
            <a:solidFill>
              <a:srgbClr val="C9785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2CE3D6-2335-4136-9230-7A2F35B0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95700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觀測幾何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A75095-7EF0-492D-9112-0FD0FF07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81500"/>
            <a:ext cx="285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rPr>
              <a:t>暗 ≠ 已證實強吸收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C22FD7-90EF-437A-953F-3B48F56E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1012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反射、透射與曝光條件都會影響亮度。</a:t>
            </a:r>
          </a:p>
        </p:txBody>
      </p:sp>
    </p:spTree>
    <p:extLst>
      <p:ext uri="{BB962C8B-B14F-4D97-AF65-F5344CB8AC3E}">
        <p14:creationId xmlns:p14="http://schemas.microsoft.com/office/powerpoint/2010/main" val="8398428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384C20-8B35-416F-91D3-F8C95D6E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3919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704A2C"/>
          </a:solidFill>
          <a:ln xmlns:a="http://schemas.openxmlformats.org/drawingml/2006/main" w="7620">
            <a:solidFill>
              <a:srgbClr val="704A2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44DA9-CA69-4471-857F-2BAB553E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43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E04F8-0755-4C25-AC8E-254172AD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rPr>
              <a:t>04 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519B9-D0B5-4BE8-AB30-142F8AF6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57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rPr>
              <a:t>熱板照明：透明物件的多次反射改變偏振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45290-1C19-46D8-8138-03E0676D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73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DCF"/>
          </a:solidFill>
          <a:ln xmlns:a="http://schemas.openxmlformats.org/drawingml/2006/main" w="7620">
            <a:solidFill>
              <a:srgbClr val="E8DDC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F20BB-4846-40F5-8816-C553298E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953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5A"/>
          </a:solidFill>
          <a:ln xmlns:a="http://schemas.openxmlformats.org/drawingml/2006/main" w="7620">
            <a:solidFill>
              <a:srgbClr val="C978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6E9B2-E628-4924-BD69-A1C11555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Hamdoh et al., Scientific Reports 15, 22577 (2025), doi:10.1038/s41598-025-06757-5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3C645-1C32-459B-BA96-7DB0F73C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44f78d8009452a"/>
          <a:stretch xmlns:a="http://schemas.openxmlformats.org/drawingml/2006/main"/>
        </p:blipFill>
        <p:spPr>
          <a:xfrm xmlns:a="http://schemas.openxmlformats.org/drawingml/2006/main">
            <a:off x="685800" y="1275853"/>
            <a:ext cx="6667500" cy="3791943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4EBD4B-8612-4606-A535-E96AB2AB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716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rPr>
              <a:t>158°C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DF149-B208-4A36-A47F-2CB919E5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907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熱板提供 SWIR 熱輻射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6226AE-999E-460B-887D-363E379A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0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8940D-0613-4E92-9464-C2E5759F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98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DA5840-A23F-4B6D-97EC-62516C7E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003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觀察到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EB3702-F9C5-4B36-AD94-39EEF1B6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00400"/>
            <a:ext cx="2514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稜鏡與玻璃球出現不同線偏振分布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6642F3-90A9-48BB-9F4D-69357156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95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8A30E9-5272-4963-B178-A97791C0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290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F6FE50-35A2-4AE4-8883-B1D2198A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1952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作者解釋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FCBFE6-BF72-4901-B582-8C974B11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19575"/>
            <a:ext cx="2514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表面多次反射造成偏振狀態改變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CA322C-3CD9-4F58-96D3-69361BBF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29200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DE5DC"/>
          </a:solidFill>
          <a:ln xmlns:a="http://schemas.openxmlformats.org/drawingml/2006/main" w="7620">
            <a:solidFill>
              <a:srgbClr val="DDE5D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CEBEFB-FC75-4EBF-9127-E3C0509B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57775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77D8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77D88"/>
                </a:solidFill>
                <a:latin typeface="Microsoft JhengHei"/>
                <a:ea typeface="Microsoft JhengHei"/>
                <a:cs typeface="Microsoft JhengHei"/>
              </a:rPr>
              <a:t>定性觀察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5E2FCC-3B6A-4C10-AFC2-878466DF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圖：論文 Fig. 4</a:t>
            </a:r>
          </a:p>
        </p:txBody>
      </p:sp>
    </p:spTree>
    <p:extLst>
      <p:ext uri="{BB962C8B-B14F-4D97-AF65-F5344CB8AC3E}">
        <p14:creationId xmlns:p14="http://schemas.microsoft.com/office/powerpoint/2010/main" val="3353608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11B2E3-A64D-479D-82F7-2CBC07CE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3919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704A2C"/>
          </a:solidFill>
          <a:ln xmlns:a="http://schemas.openxmlformats.org/drawingml/2006/main" w="7620">
            <a:solidFill>
              <a:srgbClr val="704A2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8ED86-6454-4994-A64D-C19CE491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43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4D71F-B1F0-451A-A750-F0F8FD84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rPr>
              <a:t>04 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F9C25-B08F-4655-992F-4995DC18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57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rPr>
              <a:t>全反射可產生相位差，影像出現圓偏振分量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19C91-90D3-4118-8FD3-6379C358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73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DCF"/>
          </a:solidFill>
          <a:ln xmlns:a="http://schemas.openxmlformats.org/drawingml/2006/main" w="7620">
            <a:solidFill>
              <a:srgbClr val="E8DDC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AAD54-0C34-408D-A4B6-774C74C0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953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5A"/>
          </a:solidFill>
          <a:ln xmlns:a="http://schemas.openxmlformats.org/drawingml/2006/main" w="7620">
            <a:solidFill>
              <a:srgbClr val="C978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7A61E-191D-4ACA-A62E-610363CE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Hamdoh et al., Scientific Reports 15, 22577 (2025), doi:10.1038/s41598-025-06757-5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2E4B5-D733-484A-882F-9C9B2E54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9299F-3008-4CBF-98BB-AE0B58C7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430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入射角 &gt; 臨界角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B32156-E424-4572-9B4B-C2765D52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s 與 p 分量反射後產生相位差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7DE6D-57A7-4C92-B3CA-837EB5B1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4572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7620">
            <a:solidFill>
              <a:srgbClr val="FFFDF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C76E1-C8A1-46D9-B0DA-2FB323D2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257550"/>
            <a:ext cx="3829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DC"/>
          </a:solidFill>
          <a:ln xmlns:a="http://schemas.openxmlformats.org/drawingml/2006/main" w="7620">
            <a:solidFill>
              <a:srgbClr val="DDE5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985A58-FEEB-41E4-82F8-AF06E041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5623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77D8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577D88"/>
                </a:solidFill>
                <a:latin typeface="Microsoft JhengHei"/>
                <a:ea typeface="Microsoft JhengHei"/>
                <a:cs typeface="Microsoft JhengHei"/>
              </a:rPr>
              <a:t>較高折射率介質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3458C4-461F-4D48-B3C1-9E37253E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入射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1BBB4A-C3A5-45C9-B3D1-AC79FEA2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36220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D7AA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D7AA45"/>
                </a:solidFill>
                <a:latin typeface="Microsoft JhengHei"/>
                <a:ea typeface="Microsoft JhengHei"/>
                <a:cs typeface="Microsoft JhengHei"/>
              </a:rPr>
              <a:t>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B343D1-196F-4E6A-92BA-B068D360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6220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rPr>
              <a:t>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816F44-73ED-4E3C-96DC-D4CC9AB9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5740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反射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E0A890-7C6E-46C4-83FD-B09C24A2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86075"/>
            <a:ext cx="1504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8DDCF"/>
          </a:solidFill>
          <a:ln xmlns:a="http://schemas.openxmlformats.org/drawingml/2006/main" w="7620">
            <a:solidFill>
              <a:srgbClr val="E8DDC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F55E5F-DC6D-48AA-B7B5-4D1E02B1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9146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s / p：Δφ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8B159A-8089-44EE-A23A-50A37E58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10050"/>
            <a:ext cx="876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示意圖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5E348B-E64A-4EE3-94F9-2048B4BD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4381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DDCF"/>
          </a:solidFill>
          <a:ln xmlns:a="http://schemas.openxmlformats.org/drawingml/2006/main" w="7620">
            <a:solidFill>
              <a:srgbClr val="E8DDC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48E92D-81EE-4D6D-B8B8-D086B80C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480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rPr>
              <a:t>DoCP ≠ 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3708F0-301F-4B74-8B73-B6B4B2A6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291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表示存在圓偏振分量，可能對應橢圓偏振。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4F21F5-605B-4D42-ABFB-C08E7A08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9590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機制示意；論文實際熱板影像見 Fig. 4。</a:t>
            </a:r>
          </a:p>
        </p:txBody>
      </p:sp>
    </p:spTree>
    <p:extLst>
      <p:ext uri="{BB962C8B-B14F-4D97-AF65-F5344CB8AC3E}">
        <p14:creationId xmlns:p14="http://schemas.microsoft.com/office/powerpoint/2010/main" val="13408969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3C244F-6581-4032-A6A7-0AC5A67C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3919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704A2C"/>
          </a:solidFill>
          <a:ln xmlns:a="http://schemas.openxmlformats.org/drawingml/2006/main" w="7620">
            <a:solidFill>
              <a:srgbClr val="704A2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EF053-C9AF-4546-962D-BBAA5FDE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43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F8632-C6B2-460E-A47C-5BDE94FE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rPr>
              <a:t>04 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F0470-C753-4B74-A354-0E4F077D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57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rPr>
              <a:t>青銅雕像：表面方向與天空反射形成偏振圖樣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8FB1E-0E1D-4B77-B3AF-4CAD2FC2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73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DCF"/>
          </a:solidFill>
          <a:ln xmlns:a="http://schemas.openxmlformats.org/drawingml/2006/main" w="7620">
            <a:solidFill>
              <a:srgbClr val="E8DDC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B7814-F983-413A-8B36-8BB720ED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953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5A"/>
          </a:solidFill>
          <a:ln xmlns:a="http://schemas.openxmlformats.org/drawingml/2006/main" w="7620">
            <a:solidFill>
              <a:srgbClr val="C978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4A4D9-C7C8-417B-81AE-643BC9AA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Hamdoh et al., Scientific Reports 15, 22577 (2025), doi:10.1038/s41598-025-06757-5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92686D-7256-4D8A-807D-0706A996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56d51567d4f20"/>
          <a:stretch xmlns:a="http://schemas.openxmlformats.org/drawingml/2006/main"/>
        </p:blipFill>
        <p:spPr>
          <a:xfrm xmlns:a="http://schemas.openxmlformats.org/drawingml/2006/main">
            <a:off x="714375" y="1318637"/>
            <a:ext cx="6667500" cy="3611126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AC1DB-5712-4E06-9739-8433EB52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764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Wildcat Family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616DF8-018B-4062-A113-0E347BFD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241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rPr>
              <a:t>DoLP 約可達 0.55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22F91B-5D1D-48C9-B452-06DC015C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337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觀察值受表面形貌、光照方向與天空偏振共同影響。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74982B-767A-4D70-8172-B7950EB0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038600"/>
            <a:ext cx="1809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DE5DC"/>
          </a:solidFill>
          <a:ln xmlns:a="http://schemas.openxmlformats.org/drawingml/2006/main" w="7620">
            <a:solidFill>
              <a:srgbClr val="DDE5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C66244-3DE5-4C0A-AFE5-EF69E006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067175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77D8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77D88"/>
                </a:solidFill>
                <a:latin typeface="Microsoft JhengHei"/>
                <a:ea typeface="Microsoft JhengHei"/>
                <a:cs typeface="Microsoft JhengHei"/>
              </a:rPr>
              <a:t>戶外自然光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0F1FCE-7B3A-4DAD-9367-E5E3CEFB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76775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不應把整張圖簡化為「青銅材質指紋」。</a:t>
            </a:r>
          </a:p>
        </p:txBody>
      </p:sp>
    </p:spTree>
    <p:extLst>
      <p:ext uri="{BB962C8B-B14F-4D97-AF65-F5344CB8AC3E}">
        <p14:creationId xmlns:p14="http://schemas.microsoft.com/office/powerpoint/2010/main" val="11510208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22448A-30B1-4CA7-823C-27751151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3919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704A2C"/>
          </a:solidFill>
          <a:ln xmlns:a="http://schemas.openxmlformats.org/drawingml/2006/main" w="7620">
            <a:solidFill>
              <a:srgbClr val="704A2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AE2E6-8B36-43F2-8600-D90D57F9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43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77C3E-909D-42E4-A37D-B16524AB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rPr>
              <a:t>04 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5C1D8-CC54-4CB6-8576-4D7DC420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57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rPr>
              <a:t>第二座雕像呈現不同分布：幾何與光線不能忽略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49C86-89D6-4EBA-AEB9-5306875C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73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DCF"/>
          </a:solidFill>
          <a:ln xmlns:a="http://schemas.openxmlformats.org/drawingml/2006/main" w="7620">
            <a:solidFill>
              <a:srgbClr val="E8DDC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84414-360D-44ED-9375-4246B725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953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5A"/>
          </a:solidFill>
          <a:ln xmlns:a="http://schemas.openxmlformats.org/drawingml/2006/main" w="7620">
            <a:solidFill>
              <a:srgbClr val="C978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94CD9-4F4D-4CA2-89DF-45E73B52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Hamdoh et al., Scientific Reports 15, 22577 (2025), doi:10.1038/s41598-025-06757-5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4C74E-2635-43D2-8DCF-BF496DC6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3ef1ceb4ef476f"/>
          <a:stretch xmlns:a="http://schemas.openxmlformats.org/drawingml/2006/main"/>
        </p:blipFill>
        <p:spPr>
          <a:xfrm xmlns:a="http://schemas.openxmlformats.org/drawingml/2006/main">
            <a:off x="723900" y="1433311"/>
            <a:ext cx="6705600" cy="3305577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183C7D-22BE-4FE1-A28D-8677EC1F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52575"/>
            <a:ext cx="30670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7620">
            <a:solidFill>
              <a:srgbClr val="FFFDF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DA57F-09AD-4469-9F0D-F4FE8A41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38325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比較時控制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12EDE2-0730-4461-A596-856BD45C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907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D8CC8-0A3F-4836-87B9-6519FF1E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003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437B8-4A7D-4954-BA4F-58479A51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90775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表面形貌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BE12FC-B8AD-4F24-8707-5506BC6C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90825"/>
            <a:ext cx="1943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曲面、粗糙度、凹槽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CA2E24-A2B1-4BF9-A716-4D7732D5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0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FDE59A-8968-4DA2-98F1-CC5FB3A0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992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43786D-7529-4BCC-B5F3-A9D60ED4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0040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入射方向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FADD1-FB09-4D12-BF5B-1D883B80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00450"/>
            <a:ext cx="1943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天空光與反射方向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D919FA-605E-413E-9694-99A85F26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10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18E247-0054-4086-92FD-D34457FA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195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548106-AC4D-4481-8FC7-33EDB353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10025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相機姿態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B87AE2-34D6-4EBA-9FBD-1AAD82B3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10075"/>
            <a:ext cx="1943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位置與觀察角度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C3F519-AAC4-4835-9BFC-6B2391A0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21970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rPr>
              <a:t>場景差異 ≠ 單純材料差異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911100-315D-4ABC-9CF5-133CEB6E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610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圖：論文 Fig. 6</a:t>
            </a:r>
          </a:p>
        </p:txBody>
      </p:sp>
    </p:spTree>
    <p:extLst>
      <p:ext uri="{BB962C8B-B14F-4D97-AF65-F5344CB8AC3E}">
        <p14:creationId xmlns:p14="http://schemas.microsoft.com/office/powerpoint/2010/main" val="17335679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387DE9-E770-47EA-96FD-C38DB679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3919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704A2C"/>
          </a:solidFill>
          <a:ln xmlns:a="http://schemas.openxmlformats.org/drawingml/2006/main" w="7620">
            <a:solidFill>
              <a:srgbClr val="704A2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39BA48-2CF8-427A-9B01-43098C01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43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0E9C9-503B-440C-99F3-C04CE81C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rPr>
              <a:t>04 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EAAF5-6960-4283-AA71-470F6631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57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rPr>
              <a:t>穿透玻璃窗：偏振條紋與殘留應力相符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59BFB-0726-40BD-B740-58134937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73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DCF"/>
          </a:solidFill>
          <a:ln xmlns:a="http://schemas.openxmlformats.org/drawingml/2006/main" w="7620">
            <a:solidFill>
              <a:srgbClr val="E8DDC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AA7B1-7964-4CAE-8DA4-314F3954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953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5A"/>
          </a:solidFill>
          <a:ln xmlns:a="http://schemas.openxmlformats.org/drawingml/2006/main" w="7620">
            <a:solidFill>
              <a:srgbClr val="C978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49EAA-019A-4A9D-A3BA-E3775DCB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Hamdoh et al., Scientific Reports 15, 22577 (2025), doi:10.1038/s41598-025-06757-5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C598B-5C22-43F2-A376-37C444DD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1f93232da64bdd"/>
          <a:stretch xmlns:a="http://schemas.openxmlformats.org/drawingml/2006/main"/>
        </p:blipFill>
        <p:spPr>
          <a:xfrm xmlns:a="http://schemas.openxmlformats.org/drawingml/2006/main">
            <a:off x="685800" y="1314764"/>
            <a:ext cx="6762750" cy="3656973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CD1FC-E11D-44A7-82A9-2BB9BA78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685925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週期性條紋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A8F5DE-9DD1-49FA-B812-6F1C81E3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266950"/>
            <a:ext cx="295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rPr>
              <a:t>可見於 DoLP 與 DoCP 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AB4764-1F39-4955-9F73-0CD2A005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924175"/>
            <a:ext cx="295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作者將其解釋為玻璃製造過程中的內部應力造成雙折射。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E2016-1109-40A0-AD36-53702CC8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48150"/>
            <a:ext cx="3048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DDCF"/>
          </a:solidFill>
          <a:ln xmlns:a="http://schemas.openxmlformats.org/drawingml/2006/main" w="7620">
            <a:solidFill>
              <a:srgbClr val="E8DD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2AAE7E-1C91-4BB2-9BF0-CC5C268C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0055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δ = 2π Δn d / 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E1C290-B03F-4F55-B077-41361445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810125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相位延遲取決於雙折射與厚度</a:t>
            </a:r>
          </a:p>
        </p:txBody>
      </p:sp>
    </p:spTree>
    <p:extLst>
      <p:ext uri="{BB962C8B-B14F-4D97-AF65-F5344CB8AC3E}">
        <p14:creationId xmlns:p14="http://schemas.microsoft.com/office/powerpoint/2010/main" val="826018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78D68F-B070-4BE6-998C-CD974FCF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3919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704A2C"/>
          </a:solidFill>
          <a:ln xmlns:a="http://schemas.openxmlformats.org/drawingml/2006/main" w="7620">
            <a:solidFill>
              <a:srgbClr val="704A2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30EB1-0AFB-41B3-8FBF-57E4F5C1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43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E95BE-0A4B-4D9B-988A-C1F86748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rPr>
              <a:t>04 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50000-B5F2-4511-A7DD-716A19A2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57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rPr>
              <a:t>玻璃的透射與反射：同一窗面可呈現不同偏振來源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A6AD3-446B-4F58-AE53-81FA0C51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73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DCF"/>
          </a:solidFill>
          <a:ln xmlns:a="http://schemas.openxmlformats.org/drawingml/2006/main" w="7620">
            <a:solidFill>
              <a:srgbClr val="E8DDC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6F1A0-FF42-451E-87B9-A98A01A9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953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5A"/>
          </a:solidFill>
          <a:ln xmlns:a="http://schemas.openxmlformats.org/drawingml/2006/main" w="7620">
            <a:solidFill>
              <a:srgbClr val="C978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34DE3-787D-4473-9B3D-9C815118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Hamdoh et al., Scientific Reports 15, 22577 (2025), doi:10.1038/s41598-025-06757-5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6F2B68-EBCC-4B51-B72E-D2BE5172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ad23515294eda"/>
          <a:stretch xmlns:a="http://schemas.openxmlformats.org/drawingml/2006/main"/>
        </p:blipFill>
        <p:spPr>
          <a:xfrm xmlns:a="http://schemas.openxmlformats.org/drawingml/2006/main">
            <a:off x="762000" y="1484631"/>
            <a:ext cx="5905500" cy="3193413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7756A4-76AF-4576-8186-989D1883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097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77D8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77D88"/>
                </a:solidFill>
                <a:latin typeface="Microsoft JhengHei"/>
                <a:ea typeface="Microsoft JhengHei"/>
                <a:cs typeface="Microsoft JhengHei"/>
              </a:rPr>
              <a:t>透射影像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4806F-99E7-4720-A913-9103D3C2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9775"/>
            <a:ext cx="3714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玻璃的雙折射與內應力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87217-E903-4F8A-856F-11B114EC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86025"/>
            <a:ext cx="3381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E3D8B8-34C2-4D84-A60C-9A42CF8B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28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rPr>
              <a:t>反射影像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8614E0-5348-471C-8AA1-5AE580C8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28975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環境與窗面反射的混合訊號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050BC-C9A3-4DF3-819B-EA5FA540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81475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討論時先交代拍攝位置與光路。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7C9C38-58D5-47BF-96E1-0066A0CF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943475"/>
            <a:ext cx="23336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ABE813-EC0D-4318-9013-A6A77557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972050"/>
            <a:ext cx="218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幾何條件很重要</a:t>
            </a:r>
          </a:p>
        </p:txBody>
      </p:sp>
    </p:spTree>
    <p:extLst>
      <p:ext uri="{BB962C8B-B14F-4D97-AF65-F5344CB8AC3E}">
        <p14:creationId xmlns:p14="http://schemas.microsoft.com/office/powerpoint/2010/main" val="8367167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15B5FE-DE88-43FE-A77E-FB787012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3919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704A2C"/>
          </a:solidFill>
          <a:ln xmlns:a="http://schemas.openxmlformats.org/drawingml/2006/main" w="7620">
            <a:solidFill>
              <a:srgbClr val="704A2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A7CF6-66CF-485F-8683-AD15F2F8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43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9F0C2-3B68-46EB-8F0A-5D24AA34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rPr>
              <a:t>04 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8C61A-87C5-4553-84C9-44DD4D4D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57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rPr>
              <a:t>結果總覽：影像看見了現象，還未完成定量辨識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AEA9A-B89F-408E-A26F-D58E85C0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73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DCF"/>
          </a:solidFill>
          <a:ln xmlns:a="http://schemas.openxmlformats.org/drawingml/2006/main" w="7620">
            <a:solidFill>
              <a:srgbClr val="E8DDC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19834-09CC-4E5A-839E-7EE62217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953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5A"/>
          </a:solidFill>
          <a:ln xmlns:a="http://schemas.openxmlformats.org/drawingml/2006/main" w="7620">
            <a:solidFill>
              <a:srgbClr val="C978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7A73E-1E05-4E13-BEF0-65D84E00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Hamdoh et al., Scientific Reports 15, 22577 (2025), doi:10.1038/s41598-025-06757-5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A17F4-828E-4F72-A366-4EB0EB19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AD55D-0DB4-463B-ABC0-977235D3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95425"/>
            <a:ext cx="10306050" cy="657225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DDE5DC"/>
          </a:solidFill>
          <a:ln xmlns:a="http://schemas.openxmlformats.org/drawingml/2006/main" w="7620">
            <a:solidFill>
              <a:srgbClr val="DDE5D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B7AC4-FF72-4BCC-9284-F54709E8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6192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透明材料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D067E5-4CF7-4F53-92D1-29441F15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192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透射差異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ACD87-8275-496B-969E-6597D410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19250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rPr>
              <a:t>S₀ 強度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C4B3A-38C0-41FC-9CCA-EF11C210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10306050" cy="657225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7620">
            <a:solidFill>
              <a:srgbClr val="FFFDF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B81B9B-5E43-4286-99D7-3A9B9895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860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熱板物件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5ABC9B-5B7B-436A-BAE7-C89AF77E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860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多次反射／全反射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C79D4A-6DE0-4526-B5CE-8DEBCE81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86025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rPr>
              <a:t>DoLP、DoCP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91F90F-BB1F-4B69-ACBA-57E8CD06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28975"/>
            <a:ext cx="10306050" cy="657225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DDE5DC"/>
          </a:solidFill>
          <a:ln xmlns:a="http://schemas.openxmlformats.org/drawingml/2006/main" w="7620">
            <a:solidFill>
              <a:srgbClr val="DDE5D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0DD45-892A-4A33-B476-E267D1AD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528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青銅雕像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669F01-EDCE-4210-8B8C-7153327C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528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表面反射與天光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EFE4A8-655B-4531-82C9-041193BE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352800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rPr>
              <a:t>AoLP、DoLP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9F90D2-30B1-4B04-966C-5AB71B3C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10306050" cy="657225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7620">
            <a:solidFill>
              <a:srgbClr val="FFFDF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EA4B4F-802E-4673-BF3A-52BD87E9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2195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建築玻璃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D37C65-7C35-4463-AD38-F70F3492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195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殘留應力相關條紋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922967-6F43-49B4-86A6-E41C5DAA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219575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rPr>
              <a:t>DoLP、DoCP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23436F-DB95-426F-8039-6D85B893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05425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下一步研究要補上：標準樣品 × 控制變因 × 量化真值</a:t>
            </a:r>
          </a:p>
        </p:txBody>
      </p:sp>
    </p:spTree>
    <p:extLst>
      <p:ext uri="{BB962C8B-B14F-4D97-AF65-F5344CB8AC3E}">
        <p14:creationId xmlns:p14="http://schemas.microsoft.com/office/powerpoint/2010/main" val="9259591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712627-C464-4507-95AD-665D9F34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3919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704A2C"/>
          </a:solidFill>
          <a:ln xmlns:a="http://schemas.openxmlformats.org/drawingml/2006/main" w="7620">
            <a:solidFill>
              <a:srgbClr val="704A2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C0F99-333C-469C-8DD5-6E966828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43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BE69D-4A48-458B-BD92-D367C63A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rPr>
              <a:t>05 討論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4EAAE-DD98-414A-A9F8-E231975C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57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rPr>
              <a:t>證據界線：本文能支持什麼？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7749C-B50B-44E9-88D1-6DD8433E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73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DCF"/>
          </a:solidFill>
          <a:ln xmlns:a="http://schemas.openxmlformats.org/drawingml/2006/main" w="7620">
            <a:solidFill>
              <a:srgbClr val="E8DDC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441DE-FC13-4CA1-8E74-6FBD00DC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953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5A"/>
          </a:solidFill>
          <a:ln xmlns:a="http://schemas.openxmlformats.org/drawingml/2006/main" w="7620">
            <a:solidFill>
              <a:srgbClr val="C978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D1AF7-ED3F-4FC5-B2DA-67267D42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Hamdoh et al., Scientific Reports 15, 22577 (2025), doi:10.1038/s41598-025-06757-5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18251-1A83-4B47-8009-D51CA6BC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4B4478-E6D2-414B-8F01-871B4D39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10306050" cy="1038225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DDE5DC"/>
          </a:solidFill>
          <a:ln xmlns:a="http://schemas.openxmlformats.org/drawingml/2006/main" w="7620">
            <a:solidFill>
              <a:srgbClr val="DDE5D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DDFF6-51DF-49E8-AE60-DBED26E5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657350"/>
            <a:ext cx="16668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DE5DC"/>
          </a:solidFill>
          <a:ln xmlns:a="http://schemas.openxmlformats.org/drawingml/2006/main" w="7620">
            <a:solidFill>
              <a:srgbClr val="DDE5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6E981-5588-4178-98B7-9F41052A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685925"/>
            <a:ext cx="1514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77D8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77D88"/>
                </a:solidFill>
                <a:latin typeface="Microsoft JhengHei"/>
                <a:ea typeface="Microsoft JhengHei"/>
                <a:cs typeface="Microsoft JhengHei"/>
              </a:rPr>
              <a:t>支持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56B8C5-A853-4A89-ACB7-E602E329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657350"/>
            <a:ext cx="7620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緊湊型 SWIR DoFP 可取得偏振影像；校正條件下量測追隨輸入。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5CEBAC-5152-4C4B-99B3-227FC487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90825"/>
            <a:ext cx="10306050" cy="1038225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E8DDCF"/>
          </a:solidFill>
          <a:ln xmlns:a="http://schemas.openxmlformats.org/drawingml/2006/main" w="7620">
            <a:solidFill>
              <a:srgbClr val="E8DD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AB80BC-6171-4283-9C67-041A9AD8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981325"/>
            <a:ext cx="16668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8DDCF"/>
          </a:solidFill>
          <a:ln xmlns:a="http://schemas.openxmlformats.org/drawingml/2006/main" w="7620">
            <a:solidFill>
              <a:srgbClr val="E8DD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27A954-C783-4812-B9A2-65A24D20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09900"/>
            <a:ext cx="1514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顯示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3D894A-744C-4345-82C0-CA79D4E5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981325"/>
            <a:ext cx="7620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若干材料／場景具有不同的強度與偏振圖樣。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C2E33-9B80-45B8-80B1-05A1D0A4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0306050" cy="1038225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E9D6CC"/>
          </a:solidFill>
          <a:ln xmlns:a="http://schemas.openxmlformats.org/drawingml/2006/main" w="7620">
            <a:solidFill>
              <a:srgbClr val="E9D6C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0C4992-95A8-46B1-8160-622D4C02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305300"/>
            <a:ext cx="16668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9D6CC"/>
          </a:solidFill>
          <a:ln xmlns:a="http://schemas.openxmlformats.org/drawingml/2006/main" w="7620">
            <a:solidFill>
              <a:srgbClr val="E9D6C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FD761D-DF8D-4763-B81A-59CAF5A4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33875"/>
            <a:ext cx="1514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rPr>
              <a:t>尚未證明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FF9FFC-C11C-4F4A-84A4-8B68ED1C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305300"/>
            <a:ext cx="7620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自動分類效能、普遍材料指紋、玻璃應力定量反演。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71B457-6E65-4A28-8AFE-A115883D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0225"/>
            <a:ext cx="9906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rPr>
              <a:t>低訊號與兩次曝光是實作上需特別驗證的條件。</a:t>
            </a:r>
          </a:p>
        </p:txBody>
      </p:sp>
    </p:spTree>
    <p:extLst>
      <p:ext uri="{BB962C8B-B14F-4D97-AF65-F5344CB8AC3E}">
        <p14:creationId xmlns:p14="http://schemas.microsoft.com/office/powerpoint/2010/main" val="3453072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B65F92-6B8C-4089-910B-CB40863B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3919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704A2C"/>
          </a:solidFill>
          <a:ln xmlns:a="http://schemas.openxmlformats.org/drawingml/2006/main" w="7620">
            <a:solidFill>
              <a:srgbClr val="704A2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2D9BB-0D04-480F-BE11-1DBE05B7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43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4AFA5-2FF2-4D98-8779-31F72BCA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rPr>
              <a:t>06 結論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F83363-0967-4C1F-B294-D43650E2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57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rPr>
              <a:t>三個 takeaways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C3B20-41D8-4B6F-AE4A-15B0412E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73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DCF"/>
          </a:solidFill>
          <a:ln xmlns:a="http://schemas.openxmlformats.org/drawingml/2006/main" w="7620">
            <a:solidFill>
              <a:srgbClr val="E8DDC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7166A-8700-49AC-8AD1-4C140C20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953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5A"/>
          </a:solidFill>
          <a:ln xmlns:a="http://schemas.openxmlformats.org/drawingml/2006/main" w="7620">
            <a:solidFill>
              <a:srgbClr val="C978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28D3B-93C8-4ABE-81D5-6D5B9D06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Hamdoh et al., Scientific Reports 15, 22577 (2025), doi:10.1038/s41598-025-06757-5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7DAA7-F9D8-496A-93CB-631BB7DD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BBD4D-6096-48E0-988C-2AE32437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90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E11A7C-D4D3-4EA7-9314-498526C9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002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51DD3-88A3-41E3-90F3-54F7E628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590675"/>
            <a:ext cx="916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SWIR 補充資訊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524598-FFAD-454D-9780-A5E90374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990725"/>
            <a:ext cx="90868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本文實際波段為 0.9–1.7 μm。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4D95A8-CBC2-43BE-9017-7420FB91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649010-EA64-4C61-BCA2-DAF85F8B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860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B3027D-EA90-4B42-9334-7C87758B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76550"/>
            <a:ext cx="916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偏振量測可行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F0F362-ECBB-463F-BE99-097DC186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76600"/>
            <a:ext cx="90868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DoFP 取得線偏振；完整 Stokes 需兩次拍攝與 QWP。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DF5F74-C478-4051-A60F-19D92AE1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624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64540C-55F9-4062-A254-916B01E1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DE9662-C765-444E-909A-AE058A96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62425"/>
            <a:ext cx="916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案例是起點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698153-DCB3-4425-9EA4-F2B24188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62475"/>
            <a:ext cx="90868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材料／玻璃圖樣值得研究，定量應用仍待驗證。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FE7BF4-6C2C-4351-A1BB-9A4B8019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76875"/>
            <a:ext cx="1009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E2D742-27B1-4DDF-8529-DFA6A70D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562600"/>
            <a:ext cx="9525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本篇貢獻：儀器實作、校正與現象示範</a:t>
            </a:r>
          </a:p>
        </p:txBody>
      </p:sp>
    </p:spTree>
    <p:extLst>
      <p:ext uri="{BB962C8B-B14F-4D97-AF65-F5344CB8AC3E}">
        <p14:creationId xmlns:p14="http://schemas.microsoft.com/office/powerpoint/2010/main" val="7622495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C2D778-0DA1-4297-8BB6-D6258C92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3919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704A2C"/>
          </a:solidFill>
          <a:ln xmlns:a="http://schemas.openxmlformats.org/drawingml/2006/main" w="7620">
            <a:solidFill>
              <a:srgbClr val="704A2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9958D-3694-4B3C-83D8-4351C6DA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43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93074-00DC-4FE5-80E6-25D5D7F1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rPr>
              <a:t>07 未來工作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28163-EBF7-4ACB-B505-28D292DD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57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rPr>
              <a:t>下一步：用免費光學工具先驗證偏振光路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8FEED-B603-4C0D-A035-311B32DD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73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DCF"/>
          </a:solidFill>
          <a:ln xmlns:a="http://schemas.openxmlformats.org/drawingml/2006/main" w="7620">
            <a:solidFill>
              <a:srgbClr val="E8DDC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7E429-277D-4A71-9F0B-4FD629CC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953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5A"/>
          </a:solidFill>
          <a:ln xmlns:a="http://schemas.openxmlformats.org/drawingml/2006/main" w="7620">
            <a:solidFill>
              <a:srgbClr val="C978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DCF61-A147-4787-BBD5-C5B1C274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Hamdoh et al., Scientific Reports 15, 22577 (2025), doi:10.1038/s41598-025-06757-5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824E8-EFC2-451D-82C9-6BF9C450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420D5-CCF1-42FA-8A17-9FEB20BF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52550"/>
            <a:ext cx="1314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3C349F-069E-4FF6-BF1C-70FB05FE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81125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規劃中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42572-CEAD-4462-B007-978F0122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Mitsuba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52DA40-D20A-44DB-A14B-5DFBCC32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免費開源、支援偏振追跡與 Stokes 分析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A3F439-CD8A-4126-8254-ABA2875D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33525"/>
            <a:ext cx="50101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7620">
            <a:solidFill>
              <a:srgbClr val="FFFDF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962829-A41E-4605-AA8C-1AA46899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716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67923E-E541-4545-988E-5985E430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002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3FF821-E192-458B-872D-02C0C93B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666875"/>
            <a:ext cx="157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基礎光路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9873D4-E475-4672-978C-14537A99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000250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光源 → 樣品 → 偏振分析器 → 相機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098EED-125F-44CB-A12B-1270254C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52725"/>
            <a:ext cx="50101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DDCF"/>
          </a:solidFill>
          <a:ln xmlns:a="http://schemas.openxmlformats.org/drawingml/2006/main" w="7620">
            <a:solidFill>
              <a:srgbClr val="E8DDC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467AB2-D405-481B-8682-6343BE13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908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9785A"/>
          </a:solidFill>
          <a:ln xmlns:a="http://schemas.openxmlformats.org/drawingml/2006/main" w="7620">
            <a:solidFill>
              <a:srgbClr val="C9785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FC326-0BAA-4258-980C-A4F3F5DF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194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4FF4B0-CCB7-4F8F-BB7B-275A1B28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886075"/>
            <a:ext cx="157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樣品機制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272044-7659-4DC2-9118-654A506C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219450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稜鏡全反射；玻璃雙折射／應力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C704E8-1371-4AAC-8D63-46551730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71925"/>
            <a:ext cx="50101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7620">
            <a:solidFill>
              <a:srgbClr val="FFFDF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3C970E-B616-4C61-803A-1DC4FCED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100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7D9716-6C6B-4606-9590-37A5E993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386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33EF8C-1920-499C-A24C-5A9155C0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105275"/>
            <a:ext cx="157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相機條件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CA0387-18FD-41D8-A77C-27DCBA93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438650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波長、QWP、微偏振片與雜訊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0E3361-0701-4E5E-80DC-18D66AEF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71875"/>
            <a:ext cx="4619625" cy="1438275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DDE5DC"/>
          </a:solidFill>
          <a:ln xmlns:a="http://schemas.openxmlformats.org/drawingml/2006/main" w="7620">
            <a:solidFill>
              <a:srgbClr val="DDE5DC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CF70CF-2151-456B-AE8A-430202B7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62375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7D8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77D88"/>
                </a:solidFill>
                <a:latin typeface="Microsoft JhengHei"/>
                <a:ea typeface="Microsoft JhengHei"/>
                <a:cs typeface="Microsoft JhengHei"/>
              </a:rPr>
              <a:t>重要限制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7C1E15-EADF-48A7-9118-A5B500D9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91000"/>
            <a:ext cx="4000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需驗證材料光學常數、SWIR 波長設定與偏振元件模型；模擬不能取代實驗校正。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884421-6965-446D-89B1-9F808FC6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C9785A"/>
                </a:solidFill>
                <a:latin typeface="Microsoft JhengHei"/>
                <a:ea typeface="Microsoft JhengHei"/>
                <a:cs typeface="Microsoft JhengHei"/>
              </a:rPr>
              <a:t>目標：先建立可重現的模擬，再與論文的受控案例逐項比對。</a:t>
            </a:r>
          </a:p>
        </p:txBody>
      </p:sp>
    </p:spTree>
    <p:extLst>
      <p:ext uri="{BB962C8B-B14F-4D97-AF65-F5344CB8AC3E}">
        <p14:creationId xmlns:p14="http://schemas.microsoft.com/office/powerpoint/2010/main" val="16592710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DE05F8-8373-41FE-A1B6-5B21A68F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3919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704A2C"/>
          </a:solidFill>
          <a:ln xmlns:a="http://schemas.openxmlformats.org/drawingml/2006/main" w="7620">
            <a:solidFill>
              <a:srgbClr val="704A2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61EEE-511A-4555-8C60-02CC6D18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43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A45"/>
          </a:solidFill>
          <a:ln xmlns:a="http://schemas.openxmlformats.org/drawingml/2006/main" w="7620">
            <a:solidFill>
              <a:srgbClr val="D7AA4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A08FD-64CE-45D9-A554-DDEB8D96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6E9D5"/>
                </a:solidFill>
                <a:latin typeface="Microsoft JhengHei"/>
                <a:ea typeface="Microsoft JhengHei"/>
                <a:cs typeface="Microsoft JhengHei"/>
              </a:rPr>
              <a:t>08 REFERENCES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1D47E-53B0-4CBC-B26C-29D693B9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57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DF9"/>
                </a:solidFill>
                <a:latin typeface="Microsoft JhengHei"/>
                <a:ea typeface="Microsoft JhengHei"/>
                <a:cs typeface="Microsoft JhengHei"/>
              </a:rPr>
              <a:t>參考文獻與圖像來源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74A04-2B07-4C15-A8F0-9FF97B13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73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DCF"/>
          </a:solidFill>
          <a:ln xmlns:a="http://schemas.openxmlformats.org/drawingml/2006/main" w="7620">
            <a:solidFill>
              <a:srgbClr val="E8DDC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38A37-6150-45D9-B419-E4D39C60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953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5A"/>
          </a:solidFill>
          <a:ln xmlns:a="http://schemas.openxmlformats.org/drawingml/2006/main" w="7620">
            <a:solidFill>
              <a:srgbClr val="C978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C5DF2-23EE-4063-ABF1-4894050E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Hamdoh et al., Scientific Reports 15, 22577 (2025), doi:10.1038/s41598-025-06757-5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5FCF49-16BE-4786-92FD-489D0E81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7D31D-42FC-40EA-88B8-5EAF0ECF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457325"/>
            <a:ext cx="1036320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7620">
            <a:solidFill>
              <a:srgbClr val="FFFDF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B0D50-47F1-4577-86A7-75D691C4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43075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704A2C"/>
                </a:solidFill>
                <a:latin typeface="Microsoft JhengHei"/>
                <a:ea typeface="Microsoft JhengHei"/>
                <a:cs typeface="Microsoft JhengHei"/>
              </a:rPr>
              <a:t>Hamdoh, A. et al. (2025)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0C6A3-6753-49A6-A37C-32801C1D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288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Short-wave infrared (SWIR) polarization imaging using division-of-focal-plane imaging polarimeter.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165123-AA15-477A-98A4-DB6DC08D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194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30291F"/>
                </a:solidFill>
                <a:latin typeface="Microsoft JhengHei"/>
                <a:ea typeface="Microsoft JhengHei"/>
                <a:cs typeface="Microsoft JhengHei"/>
              </a:rPr>
              <a:t>Scientific Reports, 15, 22577.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4993D-05F0-40F9-AE60-FF9530F1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43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77D8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577D88"/>
                </a:solidFill>
                <a:latin typeface="Microsoft JhengHei"/>
                <a:ea typeface="Microsoft JhengHei"/>
                <a:cs typeface="Microsoft JhengHei"/>
              </a:rPr>
              <a:t>https://doi.org/10.1038/s41598-025-06757-5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BCAD66-3D60-4706-A724-E64E2CD6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719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74695E"/>
                </a:solidFill>
                <a:latin typeface="Microsoft JhengHei"/>
                <a:ea typeface="Microsoft JhengHei"/>
                <a:cs typeface="Microsoft JhengHei"/>
              </a:rPr>
              <a:t>投影片中的研究數據與案例影像均取自該文；示意圖已標示為概念圖。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C69D13-2CA5-482B-AD09-C4ADB146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43500"/>
            <a:ext cx="10363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704A2C"/>
          </a:solidFill>
          <a:ln xmlns:a="http://schemas.openxmlformats.org/drawingml/2006/main" w="7620">
            <a:solidFill>
              <a:srgbClr val="704A2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6121D9-9281-4B8A-831A-873CA587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67325"/>
            <a:ext cx="9982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9E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9EE"/>
                </a:solidFill>
                <a:latin typeface="Microsoft JhengHei"/>
                <a:ea typeface="Microsoft JhengHei"/>
                <a:cs typeface="Microsoft JhengHei"/>
              </a:rPr>
              <a:t>謝謝聆聽   /   Q&amp;A</a:t>
            </a:r>
          </a:p>
        </p:txBody>
      </p:sp>
    </p:spTree>
    <p:extLst>
      <p:ext uri="{BB962C8B-B14F-4D97-AF65-F5344CB8AC3E}">
        <p14:creationId xmlns:p14="http://schemas.microsoft.com/office/powerpoint/2010/main" val="3222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2026-10-06T09:01:32.8780000Z</dcterms:created>
  <dcterms:modified xsi:type="dcterms:W3CDTF">2026-10-06T09:01:32.8780000Z</dcterms:modified>
</coreProperties>
</file>