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ec3ecbdcf34068" /><Relationship Type="http://schemas.openxmlformats.org/officeDocument/2006/relationships/extended-properties" Target="/docProps/app.xml" Id="Rdbe576c56e374646" /><Relationship Type="http://schemas.openxmlformats.org/officeDocument/2006/relationships/officeDocument" Target="/ppt/presentation.xml" Id="R2e0009f681b544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fcd9da1bfb458b"/>
  </p:sldMasterIdLst>
  <p:notesMasterIdLst>
    <p:notesMasterId xmlns:r="http://schemas.openxmlformats.org/officeDocument/2006/relationships" r:id="Rb63b771ebd4d4ca5"/>
  </p:notesMasterIdLst>
  <p:sldIdLst>
    <p:sldId xmlns:r="http://schemas.openxmlformats.org/officeDocument/2006/relationships" id="256" r:id="R4c4f7bbe8a284b9d"/>
    <p:sldId xmlns:r="http://schemas.openxmlformats.org/officeDocument/2006/relationships" id="257" r:id="Rf85a96b7413d4798"/>
    <p:sldId xmlns:r="http://schemas.openxmlformats.org/officeDocument/2006/relationships" id="258" r:id="Rd4bb508d47704ad0"/>
    <p:sldId xmlns:r="http://schemas.openxmlformats.org/officeDocument/2006/relationships" id="259" r:id="Ref5b998631be418a"/>
    <p:sldId xmlns:r="http://schemas.openxmlformats.org/officeDocument/2006/relationships" id="260" r:id="Rfd675a0a5e47410e"/>
    <p:sldId xmlns:r="http://schemas.openxmlformats.org/officeDocument/2006/relationships" id="261" r:id="Ref84afba08394459"/>
    <p:sldId xmlns:r="http://schemas.openxmlformats.org/officeDocument/2006/relationships" id="262" r:id="R601427fd38f64d83"/>
    <p:sldId xmlns:r="http://schemas.openxmlformats.org/officeDocument/2006/relationships" id="263" r:id="R047e85f72158422a"/>
    <p:sldId xmlns:r="http://schemas.openxmlformats.org/officeDocument/2006/relationships" id="264" r:id="Re955dcb80b414d85"/>
    <p:sldId xmlns:r="http://schemas.openxmlformats.org/officeDocument/2006/relationships" id="265" r:id="R2473d2e6dc424d0a"/>
    <p:sldId xmlns:r="http://schemas.openxmlformats.org/officeDocument/2006/relationships" id="266" r:id="R63d3269d2a2b4e3b"/>
    <p:sldId xmlns:r="http://schemas.openxmlformats.org/officeDocument/2006/relationships" id="267" r:id="R20e3c027f63d479a"/>
    <p:sldId xmlns:r="http://schemas.openxmlformats.org/officeDocument/2006/relationships" id="268" r:id="R2ea4c7dd88904ad4"/>
    <p:sldId xmlns:r="http://schemas.openxmlformats.org/officeDocument/2006/relationships" id="269" r:id="R382901c6114349ab"/>
    <p:sldId xmlns:r="http://schemas.openxmlformats.org/officeDocument/2006/relationships" id="270" r:id="R8fd2c65cd16b4e28"/>
    <p:sldId xmlns:r="http://schemas.openxmlformats.org/officeDocument/2006/relationships" id="271" r:id="R0a4fda17843a441f"/>
    <p:sldId xmlns:r="http://schemas.openxmlformats.org/officeDocument/2006/relationships" id="272" r:id="Re086e6681bd946df"/>
    <p:sldId xmlns:r="http://schemas.openxmlformats.org/officeDocument/2006/relationships" id="273" r:id="R166925b2494c4ef4"/>
    <p:sldId xmlns:r="http://schemas.openxmlformats.org/officeDocument/2006/relationships" id="274" r:id="R648749a39cc24f42"/>
    <p:sldId xmlns:r="http://schemas.openxmlformats.org/officeDocument/2006/relationships" id="275" r:id="Rb97e3f3f0fdc4f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80b19e558534321" /><Relationship Type="http://schemas.openxmlformats.org/officeDocument/2006/relationships/slideMaster" Target="/ppt/slideMasters/slideMaster1.xml" Id="R7afcd9da1bfb458b" /><Relationship Type="http://schemas.openxmlformats.org/officeDocument/2006/relationships/notesMaster" Target="/ppt/notesMasters/notesMaster1.xml" Id="Rb63b771ebd4d4ca5" /><Relationship Type="http://schemas.openxmlformats.org/officeDocument/2006/relationships/presProps" Target="/ppt/presProps.xml" Id="Re4ad84fe35614fc7" /><Relationship Type="http://schemas.openxmlformats.org/officeDocument/2006/relationships/tableStyles" Target="/ppt/tableStyles.xml" Id="R61ecb00bed28494c" /><Relationship Type="http://schemas.openxmlformats.org/officeDocument/2006/relationships/slide" Target="/ppt/slides/slide1.xml" Id="R4c4f7bbe8a284b9d" /><Relationship Type="http://schemas.openxmlformats.org/officeDocument/2006/relationships/slide" Target="/ppt/slides/slide2.xml" Id="Rf85a96b7413d4798" /><Relationship Type="http://schemas.openxmlformats.org/officeDocument/2006/relationships/slide" Target="/ppt/slides/slide3.xml" Id="Rd4bb508d47704ad0" /><Relationship Type="http://schemas.openxmlformats.org/officeDocument/2006/relationships/slide" Target="/ppt/slides/slide4.xml" Id="Ref5b998631be418a" /><Relationship Type="http://schemas.openxmlformats.org/officeDocument/2006/relationships/slide" Target="/ppt/slides/slide5.xml" Id="Rfd675a0a5e47410e" /><Relationship Type="http://schemas.openxmlformats.org/officeDocument/2006/relationships/slide" Target="/ppt/slides/slide6.xml" Id="Ref84afba08394459" /><Relationship Type="http://schemas.openxmlformats.org/officeDocument/2006/relationships/slide" Target="/ppt/slides/slide7.xml" Id="R601427fd38f64d83" /><Relationship Type="http://schemas.openxmlformats.org/officeDocument/2006/relationships/slide" Target="/ppt/slides/slide8.xml" Id="R047e85f72158422a" /><Relationship Type="http://schemas.openxmlformats.org/officeDocument/2006/relationships/slide" Target="/ppt/slides/slide9.xml" Id="Re955dcb80b414d85" /><Relationship Type="http://schemas.openxmlformats.org/officeDocument/2006/relationships/slide" Target="/ppt/slides/slide10.xml" Id="R2473d2e6dc424d0a" /><Relationship Type="http://schemas.openxmlformats.org/officeDocument/2006/relationships/slide" Target="/ppt/slides/slide11.xml" Id="R63d3269d2a2b4e3b" /><Relationship Type="http://schemas.openxmlformats.org/officeDocument/2006/relationships/slide" Target="/ppt/slides/slide12.xml" Id="R20e3c027f63d479a" /><Relationship Type="http://schemas.openxmlformats.org/officeDocument/2006/relationships/slide" Target="/ppt/slides/slide13.xml" Id="R2ea4c7dd88904ad4" /><Relationship Type="http://schemas.openxmlformats.org/officeDocument/2006/relationships/slide" Target="/ppt/slides/slide14.xml" Id="R382901c6114349ab" /><Relationship Type="http://schemas.openxmlformats.org/officeDocument/2006/relationships/slide" Target="/ppt/slides/slide15.xml" Id="R8fd2c65cd16b4e28" /><Relationship Type="http://schemas.openxmlformats.org/officeDocument/2006/relationships/slide" Target="/ppt/slides/slide16.xml" Id="R0a4fda17843a441f" /><Relationship Type="http://schemas.openxmlformats.org/officeDocument/2006/relationships/slide" Target="/ppt/slides/slide17.xml" Id="Re086e6681bd946df" /><Relationship Type="http://schemas.openxmlformats.org/officeDocument/2006/relationships/slide" Target="/ppt/slides/slide18.xml" Id="R166925b2494c4ef4" /><Relationship Type="http://schemas.openxmlformats.org/officeDocument/2006/relationships/slide" Target="/ppt/slides/slide19.xml" Id="R648749a39cc24f42" /><Relationship Type="http://schemas.openxmlformats.org/officeDocument/2006/relationships/slide" Target="/ppt/slides/slide20.xml" Id="Rb97e3f3f0fdc4f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b379f0b7054a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f7705fd5694cae" /><Relationship Type="http://schemas.openxmlformats.org/officeDocument/2006/relationships/notesMaster" Target="/ppt/notesMasters/notesMaster1.xml" Id="Re791a30bd0d641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0a7568cd024669" /><Relationship Type="http://schemas.openxmlformats.org/officeDocument/2006/relationships/notesMaster" Target="/ppt/notesMasters/notesMaster1.xml" Id="R5a196cc70a0042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2b0eacc2be4b78" /><Relationship Type="http://schemas.openxmlformats.org/officeDocument/2006/relationships/notesMaster" Target="/ppt/notesMasters/notesMaster1.xml" Id="R8a9a7999b5844a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beea23248745f5" /><Relationship Type="http://schemas.openxmlformats.org/officeDocument/2006/relationships/notesMaster" Target="/ppt/notesMasters/notesMaster1.xml" Id="R6fb92e6528db4f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73b97eada34538" /><Relationship Type="http://schemas.openxmlformats.org/officeDocument/2006/relationships/notesMaster" Target="/ppt/notesMasters/notesMaster1.xml" Id="Rdddd838689d343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a2fc81cd954ff1" /><Relationship Type="http://schemas.openxmlformats.org/officeDocument/2006/relationships/notesMaster" Target="/ppt/notesMasters/notesMaster1.xml" Id="Ra4725762890047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b111704ac4442b" /><Relationship Type="http://schemas.openxmlformats.org/officeDocument/2006/relationships/notesMaster" Target="/ppt/notesMasters/notesMaster1.xml" Id="R5b133b99df9d44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3a0932934c440f" /><Relationship Type="http://schemas.openxmlformats.org/officeDocument/2006/relationships/notesMaster" Target="/ppt/notesMasters/notesMaster1.xml" Id="R93c672a4b9d442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fa5f5552874ce9" /><Relationship Type="http://schemas.openxmlformats.org/officeDocument/2006/relationships/notesMaster" Target="/ppt/notesMasters/notesMaster1.xml" Id="Rc392a9c66ba740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fc8d396d27422c" /><Relationship Type="http://schemas.openxmlformats.org/officeDocument/2006/relationships/notesMaster" Target="/ppt/notesMasters/notesMaster1.xml" Id="Rd0e1dfe81a594a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c91606dd5a84369" /><Relationship Type="http://schemas.openxmlformats.org/officeDocument/2006/relationships/notesMaster" Target="/ppt/notesMasters/notesMaster1.xml" Id="R57355ed2e3b04ca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35565854dbf4785" /><Relationship Type="http://schemas.openxmlformats.org/officeDocument/2006/relationships/notesMaster" Target="/ppt/notesMasters/notesMaster1.xml" Id="R256a37383fff4df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5ac8276e82d4227" /><Relationship Type="http://schemas.openxmlformats.org/officeDocument/2006/relationships/notesMaster" Target="/ppt/notesMasters/notesMaster1.xml" Id="Rd7826b6d7a1c420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e6d5b5b5de4a82" /><Relationship Type="http://schemas.openxmlformats.org/officeDocument/2006/relationships/notesMaster" Target="/ppt/notesMasters/notesMaster1.xml" Id="R84490ed55c904ff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f8f99cc7a3a4b56" /><Relationship Type="http://schemas.openxmlformats.org/officeDocument/2006/relationships/notesMaster" Target="/ppt/notesMasters/notesMaster1.xml" Id="Re9385262d4cf41e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ec12e3699074eb6" /><Relationship Type="http://schemas.openxmlformats.org/officeDocument/2006/relationships/notesMaster" Target="/ppt/notesMasters/notesMaster1.xml" Id="R4df20bd5467442b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66a620626ab481d" /><Relationship Type="http://schemas.openxmlformats.org/officeDocument/2006/relationships/notesMaster" Target="/ppt/notesMasters/notesMaster1.xml" Id="R5a0b953cac2748e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043351cce044afe" /><Relationship Type="http://schemas.openxmlformats.org/officeDocument/2006/relationships/notesMaster" Target="/ppt/notesMasters/notesMaster1.xml" Id="R25afe8a17b23448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603431390ea462c" /><Relationship Type="http://schemas.openxmlformats.org/officeDocument/2006/relationships/notesMaster" Target="/ppt/notesMasters/notesMaster1.xml" Id="R19ee70e2762d4ed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ffca90f33d04110" /><Relationship Type="http://schemas.openxmlformats.org/officeDocument/2006/relationships/notesMaster" Target="/ppt/notesMasters/notesMaster1.xml" Id="Rc9a802768aa847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今天導讀的主題是焦平面分割式短波紅外偏振成像。報告先用一句話說清研究問題，再介紹 SWIR 與偏振量測，之後依序看儀器、校正、不同材料案例，最後說明證據界線和可落地的下一步。人名與實驗室資料請依實際情況補上。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SWIR 是短波紅外。常見定義可延伸到約 2.5 微米，但本文這台相機只量 0.9 到 1.7 微米。不同波長和材料作用不同，因此有些在可見光不透明的材料，在 SWIR 會顯示透射；水也有波長相關吸收。要分開理解兩件事：SWIR 指觀測的光譜範圍，偏振則描述電場振盪的狀態。補充：這不是熱像相機的長波熱輻射量測。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作者想展示焦平面分割偏振儀如何用於短波紅外，並透過校正與多種材料場景說明系統可量測偏振影像。閱讀上要把研究目的與證據強度分開：這是一項儀器與現象示範，文章並沒有訓練材料分類模型，也沒有用應力標準樣品建立定量反演關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Stokes 向量由 S0 到 S3 組成。S0 是總強度；S1、S2描述兩組正交線偏振方向的強度差；S3描述左右圓偏振分量差。DoLP、AoLP、DoCP 是把量測轉成較直觀的偏振指標。AoLP以 atan2 計算能保留象限。DoCP 有正負號；非零代表圓偏振分量，不等於完全圓偏振。當 S0 很小或線偏振分量接近零時，指標容易受噪聲影響。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這是論文的量測架構，不是我們尚未建置的模擬系統。作者使用改裝 FLIR Tau SWIR 相機，640乘512的 InGaAs 感測器，搭配 Mooxtek 微偏振片陣列。四種方向在相鄰像素取樣。要量測 S3，另外在光路中加入消色差四分之一波片。感測器範圍是0.9到1.7微米，波片最佳化範圍是1.1到2.0微米，兩者不完全相同，這是量測系統的波段限制。圖取自論文Fig.9。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作者將偏振態分析器和微偏振片陣列結合，完整重建需要兩張影像：沒有QWP時得到線偏振資訊；插入QWP後再量一次，補足S3相關資訊。這表示完整Stokes不是單張快照。實驗中作者以紅外熱燈、線偏振片及QWP建立已知輸入，再掃描角度做校正。若場景在兩次曝光之間改變，重建結果可能偏移，這對動態場景是實際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論文Fig.11顯示量測值大致跟隨已知輸入。作者報告DoLP與DoCP平均誤差量值小於0.06，各角度標準差小於0.04，平均百分比誤差分別約3.68%和4.06%。這些數字支持系統在校正條件下的量測趨勢和重複性，但不能直接變成戶外影像每一像素的顯著性門檻。尤其當理論值接近零時，百分比誤差應謹慎解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g.3展示13種物件。作者指出綠色與藍色不透明塑膠、黑玻璃容器、矽片和油在SWIR下可透光；鋁、木材及水在這組影像中呈暗。黑曜石在可見光看來是黑色，但在SWIR表現得像透明玻璃。這些是特定照明與相機條件下的影像結果，不能把暗直接等同材料吸收係數。圖取自Fig.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接續上一頁，這一頁集中讀Fig.3的偏振圖。AoLP呈現線偏振方向：線偏振片約115度、圓偏振片約55度；黑曜石表面AoLP變化很廣。DoLP呈現線偏振比例，線偏振片最高約0.66，而可透SWIR的塑膠、玻璃與矽片都低於0.05。DoCP方面，只有圓偏振片的透射光出現可觀察分量。請特別提醒聽眾：原文圖說指出黑色AoLP像素代表DoLP為零、角度沒有定義，不是另一個有效方向，也不必然代表相機沒有訊號。這些是單組實驗的觀察值，不能視為通用材料分類門檻。來源：論文Fig.3及第4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實驗把透明物件放在約158攝氏度的熱板上。熱板高於100攝氏度，因而發出明顯SWIR熱輻射。作者展示稜鏡、玻璃球和半球的S0與偏振影像，並以光線在物體表面多次反射解釋局部偏振圖樣。此處應說「與機制一致」，不要過度宣稱已經以獨立量測排除其他影響。圖取自Fig.4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反射時，反射的s、p偏振分量可能累積不同相位，於是線偏振輸入可以成為橢圓偏振。作者報告特定區域的DoCP最高約0.45，並以物體內部全反射解釋。DoCP不等於光完全圓偏振。這一頁的線條圖是概念示意，不是作者原圖，也沒有用來代表實測幾何的精確光線追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Wildcat Family是校園中的青銅雕像。作者展示原始強度、AoLP、DoLP及DoCP影像。DoLP圖樣隨表面而變，值最高約0.55。這並非只由材料決定；雕像幾何、鏡面反射、天光偏振方向與拍攝姿態都會影響讀值。圖取自Fig.5。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g.6是另一座青銅雕像。論文指出不同雕像的DoLP和DoCP圖樣不同，並將差異與表面幾何、材質、入射光條件和觀察角度相連。這個比較提醒我們，若目標是做材料辨識，必須控制或記錄場景因素，否則模型可能學到照明與幾何，而非材料本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作者由建築外側拍攝玻璃窗，圖中可見週期性偏振條紋，並指出條紋來自製造過程中殘留應力造成的雙折射。雙折射使兩個正交偏振分量具有不同折射率，累積相位延遲取決於折射率差、厚度和波長。原文沒有提供獨立應力測量與反演校正，因此此案例支持現象觀察，不足以換算應力值。圖取自Fig.8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玻璃窗的偏振影像還要注意光路。穿過玻璃的偏振變化可能包含雙折射和殘留應力；玻璃表面反射則混合了環境光和觀察角度產生的偏振。因此比較反射和透射，首先需要清楚交代拍攝位置、入射方向和偏振光源。這組窗景支持偏振圖像對玻璃現象敏感，但沒有量化拆分每一種來源。圖仍引用Fig.8，實際版面可替換成論文中對應反射場景的Fig.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結果放在一起看，本文展示偏振影像對材料透射、熱板透明物件、青銅表面及玻璃條紋的敏感性。這些是多個現象的定性示範，還沒有構成有控制條件的材料辨識或應力計量流程。若延伸成自己的研究，需要標準樣品、控制照明和入射角，並取得獨立真值來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結論要分成三層。第一，校正數據支持儀器在特定條件下量測偏振的能力。第二，論文展示不同材料與場景有不同偏振影像。第三，文章沒有驗證材料分類準確率、普遍有效的材料特徵，也沒有建立玻璃應力的定量反演。再加上低訊號時DoLP和AoLP不穩、完整Stokes需兩次拍攝，應用到動態或戶外場景仍要追加實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總結三點。第一，論文實際量測的是0.9到1.7微米的SWIR。第二，微偏振片陣列可取得線偏振資訊；完整Stokes重建還需要加入QWP再量一次。第三，材料和玻璃案例顯示研究潛力，但要達到分類或定量應力測量，需要更嚴格的校正和真值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下一階段建議以Mitsuba 3作為免費的開源偏振模擬起點。先建立光源、樣品、偏振元件與感測器的簡化光路，再逐步加入稜鏡全反射、玻璃雙折射和感測器分析器。軟體能處理偏振與Stokes輸出，但SWIR材料係數、波長配置和微偏振片實作仍需逐項確認。模擬的用途是測試架構與提出預期，不是取代真實儀器校正。這是未來工作規劃，尚未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主要引用來源為Hamdoh等人於2025年發表在Scientific Reports的論文。本文圖像引用原文圖3至圖9，正式分享時請保留作者、圖號與期刊來源。概念示意圖為本簡報自製，不能當作實測圖或精確光線模擬。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來源：Hamdoh et al., Scientific Reports 15, 22577 (2025), doi:10.1038/s41598-025-06757-5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112280900743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ee79cea0fb440c" /><Relationship Type="http://schemas.openxmlformats.org/officeDocument/2006/relationships/slideLayout" Target="/ppt/slideLayouts/slideLayout1.xml" Id="R1cdbcd3be66648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dbcd3be66648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a2d7558174f78" /><Relationship Type="http://schemas.openxmlformats.org/officeDocument/2006/relationships/notesSlide" Target="/ppt/notesSlides/notesSlide1.xml" Id="Rd7f6822cb53f4f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9a66024094a05" /><Relationship Type="http://schemas.openxmlformats.org/officeDocument/2006/relationships/notesSlide" Target="/ppt/notesSlides/notesSlide2.xml" Id="Rab1a3d04b29842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682b80bc54e8c" /><Relationship Type="http://schemas.openxmlformats.org/officeDocument/2006/relationships/notesSlide" Target="/ppt/notesSlides/notesSlide3.xml" Id="R31100653d71e4a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53d9430ad4a3f" /><Relationship Type="http://schemas.openxmlformats.org/officeDocument/2006/relationships/notesSlide" Target="/ppt/notesSlides/notesSlide4.xml" Id="Rc7ef9518dd6f48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f52a8b7674ef9" /><Relationship Type="http://schemas.openxmlformats.org/officeDocument/2006/relationships/image" Target="/ppt/media/image.png" Id="R524a2451bbe54b65" /><Relationship Type="http://schemas.openxmlformats.org/officeDocument/2006/relationships/notesSlide" Target="/ppt/notesSlides/notesSlide5.xml" Id="R1f6be808733c41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12ebc1f0d49d2" /><Relationship Type="http://schemas.openxmlformats.org/officeDocument/2006/relationships/notesSlide" Target="/ppt/notesSlides/notesSlide6.xml" Id="R396558c47d3e49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d982de69a94fb6" /><Relationship Type="http://schemas.openxmlformats.org/officeDocument/2006/relationships/image" Target="/ppt/media/image2.png" Id="R94595ce1e87d455c" /><Relationship Type="http://schemas.openxmlformats.org/officeDocument/2006/relationships/notesSlide" Target="/ppt/notesSlides/notesSlide7.xml" Id="Rc31b3d994ad343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2b0e3069c149c3" /><Relationship Type="http://schemas.openxmlformats.org/officeDocument/2006/relationships/image" Target="/ppt/media/image3.png" Id="Rd0cfffecf4a540a5" /><Relationship Type="http://schemas.openxmlformats.org/officeDocument/2006/relationships/notesSlide" Target="/ppt/notesSlides/notesSlide8.xml" Id="Radbcb5857d174e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f40d26cf74d62" /><Relationship Type="http://schemas.openxmlformats.org/officeDocument/2006/relationships/image" Target="/ppt/media/image4.png" Id="R8b08b32eed204b2e" /><Relationship Type="http://schemas.openxmlformats.org/officeDocument/2006/relationships/notesSlide" Target="/ppt/notesSlides/notesSlide9.xml" Id="Rb31ec692cc894f8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70ed175a64ef1" /><Relationship Type="http://schemas.openxmlformats.org/officeDocument/2006/relationships/image" Target="/ppt/media/image5.png" Id="R20dcf2a6b1be4e4c" /><Relationship Type="http://schemas.openxmlformats.org/officeDocument/2006/relationships/notesSlide" Target="/ppt/notesSlides/notesSlide10.xml" Id="Rc7d40ed25c6245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23e21fcb04b2b" /><Relationship Type="http://schemas.openxmlformats.org/officeDocument/2006/relationships/notesSlide" Target="/ppt/notesSlides/notesSlide11.xml" Id="Rcb8d9a46ccac41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6e274bf8944eb" /><Relationship Type="http://schemas.openxmlformats.org/officeDocument/2006/relationships/image" Target="/ppt/media/image6.png" Id="Rbd022c5c08334f61" /><Relationship Type="http://schemas.openxmlformats.org/officeDocument/2006/relationships/notesSlide" Target="/ppt/notesSlides/notesSlide12.xml" Id="R6bc74fb748d7424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3c3a4243a48b5" /><Relationship Type="http://schemas.openxmlformats.org/officeDocument/2006/relationships/image" Target="/ppt/media/image7.png" Id="R2a8f38cabc7d4ea7" /><Relationship Type="http://schemas.openxmlformats.org/officeDocument/2006/relationships/notesSlide" Target="/ppt/notesSlides/notesSlide13.xml" Id="Rd653718f5a924f5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332f343f24f71" /><Relationship Type="http://schemas.openxmlformats.org/officeDocument/2006/relationships/image" Target="/ppt/media/image8.png" Id="R4eb06e24f01c4a32" /><Relationship Type="http://schemas.openxmlformats.org/officeDocument/2006/relationships/notesSlide" Target="/ppt/notesSlides/notesSlide14.xml" Id="R666bb84092f14c9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d779167604a03" /><Relationship Type="http://schemas.openxmlformats.org/officeDocument/2006/relationships/image" Target="/ppt/media/image9.png" Id="R59a162b900544061" /><Relationship Type="http://schemas.openxmlformats.org/officeDocument/2006/relationships/notesSlide" Target="/ppt/notesSlides/notesSlide15.xml" Id="R6b68dfb9fc5b487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70e3f41dfa4b7b" /><Relationship Type="http://schemas.openxmlformats.org/officeDocument/2006/relationships/notesSlide" Target="/ppt/notesSlides/notesSlide16.xml" Id="R48adf06996db472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8ca3f59cb4290" /><Relationship Type="http://schemas.openxmlformats.org/officeDocument/2006/relationships/notesSlide" Target="/ppt/notesSlides/notesSlide17.xml" Id="R7bd10ccffb91495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b0e9a3a574b04" /><Relationship Type="http://schemas.openxmlformats.org/officeDocument/2006/relationships/notesSlide" Target="/ppt/notesSlides/notesSlide18.xml" Id="R1d4c0cd0f23842e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afc431ae0143b7" /><Relationship Type="http://schemas.openxmlformats.org/officeDocument/2006/relationships/notesSlide" Target="/ppt/notesSlides/notesSlide19.xml" Id="R9ca698cfe96c4cb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18c9c1fb341ba" /><Relationship Type="http://schemas.openxmlformats.org/officeDocument/2006/relationships/notesSlide" Target="/ppt/notesSlides/notesSlide20.xml" Id="Rd418e7bc320246c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0DB7C0-0E47-4A07-84BF-278B833F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63300" cy="5962650"/>
          </a:xfrm>
          <a:prstGeom xmlns:a="http://schemas.openxmlformats.org/drawingml/2006/main" prst="roundRect">
            <a:avLst>
              <a:gd name="adj" fmla="val 127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8DDA4F-2644-49DD-8E25-1C570663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66750"/>
            <a:ext cx="107061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C19312-CA01-405D-AE9C-4E6CA744B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9E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FFF9EE"/>
                </a:solidFill>
                <a:latin typeface="Microsoft JhengHei"/>
                <a:ea typeface="Microsoft JhengHei"/>
                <a:cs typeface="Microsoft JhengHei"/>
              </a:rPr>
              <a:t>文獻導讀  /  SWIR × 偏振成像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CE720-333C-4DCF-A0F1-C24DAD5C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430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525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看見光穿過材料之後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D8CB05-B20C-4027-B33A-C252E559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28875"/>
            <a:ext cx="704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8C63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8C633F"/>
                </a:solidFill>
                <a:latin typeface="Microsoft JhengHei"/>
                <a:ea typeface="Microsoft JhengHei"/>
                <a:cs typeface="Microsoft JhengHei"/>
              </a:rPr>
              <a:t>焦平面分割式短波紅外偏振儀的量測與案例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907B2-882F-435F-B907-08595489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86125"/>
            <a:ext cx="1809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B7893-54AC-429A-9CFC-95D5CFD0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147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研究論文導讀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C0A52-C4A6-4CFF-8777-071247A3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8620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  ·  Scientific Reports  ·  2025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2992AC-AE54-4C2B-9B7C-0FD7660A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771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報告人：[姓名]   指導教授：[姓名]   實驗室：[單位]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A6338-6974-421C-8D67-560DB68A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626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2026.10.08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6A92E-42D0-47FE-B0B7-5F26F7C3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5811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33C650-8F57-4CA4-944B-3486EC1C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543175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CE2253-9D6D-4E53-96A8-0E45D548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38500"/>
            <a:ext cx="1095375" cy="10953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71D1D3-5FBD-44F1-860D-82FBD02E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0005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9967D"/>
          </a:solidFill>
          <a:ln xmlns:a="http://schemas.openxmlformats.org/drawingml/2006/main" w="7620">
            <a:solidFill>
              <a:srgbClr val="89967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DF37C8-2C1D-4510-8A1B-F2B39668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3360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SWIR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961A66-4607-4ADA-A91A-14860A14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9146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S₀–S₃</a:t>
            </a:r>
          </a:p>
        </p:txBody>
      </p:sp>
    </p:spTree>
    <p:extLst>
      <p:ext uri="{BB962C8B-B14F-4D97-AF65-F5344CB8AC3E}">
        <p14:creationId xmlns:p14="http://schemas.microsoft.com/office/powerpoint/2010/main" val="20209918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D59323-51D6-43AF-9053-46F8FEA0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50746C-4ED2-4FA4-A0D8-8DE1F91A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58CCE-ABCC-466D-A7F3-1A544895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01 背景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3090D2-8CB6-45E7-AD08-39EFAE99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SWIR 看見了什麼？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4E440-FF77-4D56-919D-EA10744A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C0DB1-EBD4-41B1-A483-267BC8B4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59D5C1-BC51-474C-9A6C-6D090B0F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C29C1-BA73-4149-B9E6-2C1B9FA7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43AC6-18B6-4827-A3C2-FF9B11B1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37160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0.9–2.5 μm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2B68F5-D9DC-475A-8714-A16F9D377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0502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短波紅外的常用範圍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5D7237-7FBE-4945-B04B-2DF0F1EA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81125"/>
            <a:ext cx="535305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CDB46B-037D-4870-B567-96C5B884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本文相機實際量測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AC1103-A8C8-48A6-AF32-56D85869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428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0.9–1.7 μm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924424-DCC0-4039-A62B-C6A52C3E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765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範圍較廣義 SWIR 窄；解讀結果時要分清楚。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03EDC-6AC7-4205-BF48-8CD505A6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104394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B39B49-E651-4F71-ADB1-D8CC2A38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41529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波段改變材料與光的互動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14C218-EDED-4628-AC2B-B8F2630C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4657725"/>
            <a:ext cx="942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有些可見光不透明材料，在 SWIR 可能透光；水在約 1.45 μm 附近有吸收特徵。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AF0AB1-4C84-4A48-894B-28001635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62625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9FF37D-EC2C-44B9-BF26-870D6B2B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9120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SWIR：看哪一段光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6BED20-F9AE-44FE-B66A-E5203F7A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762625"/>
            <a:ext cx="3048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39B7A3-2C2F-41AB-A00E-CA8463C7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79120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偏振：看光如何振盪</a:t>
            </a:r>
          </a:p>
        </p:txBody>
      </p:sp>
    </p:spTree>
    <p:extLst>
      <p:ext uri="{BB962C8B-B14F-4D97-AF65-F5344CB8AC3E}">
        <p14:creationId xmlns:p14="http://schemas.microsoft.com/office/powerpoint/2010/main" val="12448418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2B0F52-A944-420D-9DC9-51EA119C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470D4F-E7FC-4BC4-BBDF-E1504810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5F0724-B935-44B7-855F-98025C44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01 背景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706F1F-C413-4CF5-9D5C-7DF718E7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研究問題：這套儀器能可靠量到哪些偏振現象？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7B5AE-8087-44A8-A5D8-AD3364B0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9AA2D-43E8-4FFB-989F-E7CBDB15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1CD827-D2BE-4ABB-B5F4-81817AA3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DB0C5-145C-4F3A-8501-E39DEE93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BA514E-BF6D-413E-AEC3-5DF98B05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52550"/>
            <a:ext cx="2190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研究缺口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E8311A-0D3F-45A0-A099-E99E1B36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緊湊型 SWIR 相機如何擴增偏振量測？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F2A566-9768-4E1A-8FD2-1DDE4080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8098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72CD4C-255F-4AD5-A376-473B7ED5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81940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DA751C-7812-4940-A20E-13B1570B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完成量測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7E90BB-8B4C-4BCB-ABFE-1F1AC5CF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09925"/>
            <a:ext cx="2514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由微偏振片陣列取得線偏振資訊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69B928-D789-4CC4-9B93-322E5AD5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098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26A013-6177-46F5-9A6F-12298CA9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1940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235D24-EAC3-4EBF-B49E-597B46710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0987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驗證準確度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F87B88-3F60-4DC8-8990-00C0FAEA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209925"/>
            <a:ext cx="2514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用已知輸入校正 DoLP / DoCP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CA3451-A571-4089-B027-B345C0C5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8098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1F1CAC-71DE-451F-8445-6DABF568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81940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5F84B2-94F2-45DC-8FFA-87D00ADB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80987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觀察材料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CED4AE-00F1-41A6-9217-B0D5A2DA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209925"/>
            <a:ext cx="2514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以材料與場景展示影像差異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6DDB58-FA79-408B-8579-DB873B47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72000"/>
            <a:ext cx="100012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C36EE6-8022-4073-81E0-A9D6BE59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752975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C63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8C633F"/>
                </a:solidFill>
                <a:latin typeface="Microsoft JhengHei"/>
                <a:ea typeface="Microsoft JhengHei"/>
                <a:cs typeface="Microsoft JhengHei"/>
              </a:rPr>
              <a:t>本文定位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7CA57E-3088-4954-92F6-A41072CE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676775"/>
            <a:ext cx="571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儀器建置＋校正＋多場景示範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C7B66A-BBA7-4C3E-B39F-8B1B5EF2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133975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未建立分類器，也未定量反演材料應力。</a:t>
            </a:r>
          </a:p>
        </p:txBody>
      </p:sp>
    </p:spTree>
    <p:extLst>
      <p:ext uri="{BB962C8B-B14F-4D97-AF65-F5344CB8AC3E}">
        <p14:creationId xmlns:p14="http://schemas.microsoft.com/office/powerpoint/2010/main" val="2379073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A2D600-834D-4A5A-8240-D3C4E64E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6DCD2-1CDD-4746-BE90-B2612B8A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F7AF8E-F0AE-4DF0-879A-56D29B89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02 量測原理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7F632-A6C0-4C83-99E8-1AF85F2C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用四個 Stokes 參數描述偏振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BD1D3-BD05-4D20-8B2B-4876C75A0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122D0D-4989-4517-B1A2-1D8ECD7D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46A440-B340-476F-A19E-C94AEA06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DEE7AB-D746-4A29-915E-CDA85F0E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8B48D-C325-49C1-878C-D27B1458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24193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E1F711-2AFC-438F-8494-AA811E80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2076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S₀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11D0FB-5B20-42FA-9A97-05E4DCF4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57450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總光強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9FE29-561C-47BC-A034-96EDCC0D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479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影像亮度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A8785D-040C-420E-8CFF-5BBCCCB0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09725"/>
            <a:ext cx="24193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CBD14C-9CD3-49F9-B4DC-D7FB3629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809750"/>
            <a:ext cx="2076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S₁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7E1BC6-70FC-434A-9985-5A57BC55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水平 − 垂直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03C594-381E-4ACB-BF96-54742ED9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479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線偏振分量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9C5A71-A05D-4593-B2BC-28CDC715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09725"/>
            <a:ext cx="24193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A3AF6E-1DEC-4DD2-B87B-88CA5CF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809750"/>
            <a:ext cx="2076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S₂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575D35-8F6A-4B6C-8C42-D89D83DD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57450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+45° − −45°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5763D4-5D0D-4B48-A69E-4E6E606B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479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斜向線偏振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326FAA-AF75-43DB-9898-9DDD282D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09725"/>
            <a:ext cx="24193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4A276D-5372-4253-B8C3-959CF9FD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09750"/>
            <a:ext cx="2076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S₃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29923C-0F98-41D0-9047-89B03A75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右旋 − 左旋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0071A5-64B2-40AA-9336-80F89F24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479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圓偏振分量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ECABA4-CBF4-4699-A907-3CFB991E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DoLP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69A0C0-F234-47B6-8002-44906C23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√(S₁² + S₂²) / S₀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6C866B-2418-4D46-89C7-C76E18B6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433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AoLP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7AE109-B627-4DCF-BE99-348303EB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243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½ atan2(S₂, S₁)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F9F37B-3999-48D1-8616-CD709B1F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9433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DoCP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15A261-B4C0-46D3-89B6-83834C53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3243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S₃ / S₀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9644AC-26D7-4629-B911-F168033D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67325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低訊號區：角度與偏振度都要搭配強度、雜訊判讀。</a:t>
            </a:r>
          </a:p>
        </p:txBody>
      </p:sp>
    </p:spTree>
    <p:extLst>
      <p:ext uri="{BB962C8B-B14F-4D97-AF65-F5344CB8AC3E}">
        <p14:creationId xmlns:p14="http://schemas.microsoft.com/office/powerpoint/2010/main" val="1245748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7FE1E4-0F75-4068-8A81-6901354E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1778CC-EEDC-4251-9D11-A03C722C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E7916-7D2B-40C8-878B-058AFE4E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03 方法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C5F9EE-F7B3-4228-AD38-13E27BDE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硬體：微偏振片陣列直接貼合 SWIR 感測器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A8012-3465-4714-9C03-109A62E5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772782-FCFD-4191-892F-B3FDE67A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0724B-DCFE-4210-9826-121F7813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D03F5C-F5E8-4385-AB6F-EC3B2A1F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4a2451bbe54b65"/>
          <a:stretch xmlns:a="http://schemas.openxmlformats.org/drawingml/2006/main"/>
        </p:blipFill>
        <p:spPr>
          <a:xfrm xmlns:a="http://schemas.openxmlformats.org/drawingml/2006/main">
            <a:off x="826839" y="1295400"/>
            <a:ext cx="5737722" cy="3714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B37C16-5895-4E51-8572-41D973F5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1809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619C7E-DB0A-452C-92BF-BF88EFC4E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552575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640 × 512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033AAE-B419-4676-874C-E57F8E2C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524000"/>
            <a:ext cx="19526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22C687-1952-42CF-A6EF-BB5382F3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552575"/>
            <a:ext cx="1800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0.9–1.7 μm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BFBC1E-DF37-4A7B-B34D-8CD8052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5742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InGaAs 感測器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850486-91BD-400E-B9FB-97FEE514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813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2 × 2 微偏振片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847C3C-B4F1-44B2-8FFB-3835F99E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956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0° / 45° / 90° / 135°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EC14D-92CA-40EC-B97F-033BFA69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76700"/>
            <a:ext cx="4000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E6845A-1B0D-4EA7-93FC-7CA11C32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386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量 S₃ 時加入 QWP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B7E4C1-9C48-4D7E-AC92-A526F414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910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消色差波片設計範圍 1.1–2.0 μm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FC1DF4-6C77-499C-B5DF-614636D7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14950"/>
            <a:ext cx="619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圖：論文 Fig. 9；此圖為作者實驗配置</a:t>
            </a:r>
          </a:p>
        </p:txBody>
      </p:sp>
    </p:spTree>
    <p:extLst>
      <p:ext uri="{BB962C8B-B14F-4D97-AF65-F5344CB8AC3E}">
        <p14:creationId xmlns:p14="http://schemas.microsoft.com/office/powerpoint/2010/main" val="12979644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4C74B4-3F98-4ACA-8135-83437A12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9A48C-F006-4937-BD94-B0D73859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90E11-4639-4CD1-AD5F-93D0B04E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03 方法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D375A-F83A-4817-9245-CCB7EBAF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完整 Stokes：兩張影像重建，而非單張即時量測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BA962-22B5-4D6E-AEA4-040E4631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554CF-FA79-4F60-96D0-DEE98235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2B0A84-B03E-4FFA-84CA-F3FADD5F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0C3ED-FE8A-4545-981D-825C972A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A9B86B-8718-4F54-8053-688DA487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3048000" cy="2114550"/>
          </a:xfrm>
          <a:prstGeom xmlns:a="http://schemas.openxmlformats.org/drawingml/2006/main" prst="roundRect">
            <a:avLst>
              <a:gd name="adj" fmla="val 360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6FCDA1-A009-4DAD-9C73-E5024229D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431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45B889-371A-4562-85C5-3D375418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90750"/>
            <a:ext cx="53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6F7B46-0727-45D2-9E50-73BF5A43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914650"/>
            <a:ext cx="255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不加 QWP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84A698-5402-4D19-9B82-AB7F22ED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429000"/>
            <a:ext cx="2552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取得 S₀、S₁、S₂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466C8B-9AC2-472B-AE54-CC3091CB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52725"/>
            <a:ext cx="45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E0A6DF-66BA-443E-A0DF-3406DA91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24050"/>
            <a:ext cx="3048000" cy="2114550"/>
          </a:xfrm>
          <a:prstGeom xmlns:a="http://schemas.openxmlformats.org/drawingml/2006/main" prst="roundRect">
            <a:avLst>
              <a:gd name="adj" fmla="val 360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8A2EB8-03AB-423F-9907-CC225ABE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431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7F45A7-28B1-4EA6-A7DA-2E1812BC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90750"/>
            <a:ext cx="53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16E97-A3A0-444D-9B3F-A9B42B3E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914650"/>
            <a:ext cx="255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加入 QWP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33F08A-4DB9-4D06-BD19-1E4EF768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429000"/>
            <a:ext cx="2552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取得含 S₃ 的分析資訊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27C024-B84E-45F3-97CC-DE36C708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52725"/>
            <a:ext cx="45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7FC27E-6158-4E82-9674-8B4222B7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3048000" cy="2114550"/>
          </a:xfrm>
          <a:prstGeom xmlns:a="http://schemas.openxmlformats.org/drawingml/2006/main" prst="roundRect">
            <a:avLst>
              <a:gd name="adj" fmla="val 360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D61A86-EBE3-4927-8447-28A8181F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431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2024EF-9FF2-47E9-BA02-904BD753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90750"/>
            <a:ext cx="53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F72ECE-1BC2-41D5-9FAD-41007910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914650"/>
            <a:ext cx="255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影像重建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A6FE15-921F-479C-942C-8CABFEDD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3429000"/>
            <a:ext cx="2552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合併兩次量測估計 S₀–S₃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936371-6335-4A0A-8471-98E42B75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48200"/>
            <a:ext cx="1038225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2E2803-C3CF-410F-9335-75F403C1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9650"/>
            <a:ext cx="114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校正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C97C00-C33D-4BF9-8752-EC3C7116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724400"/>
            <a:ext cx="752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紅外熱燈 + 已知線偏振輸入 + QWP 角度掃描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D071F7-574E-4AEA-9FAF-3C0EC5AD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17207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兩次曝光：物體移動或照明改變都可能造成不一致。</a:t>
            </a:r>
          </a:p>
        </p:txBody>
      </p:sp>
    </p:spTree>
    <p:extLst>
      <p:ext uri="{BB962C8B-B14F-4D97-AF65-F5344CB8AC3E}">
        <p14:creationId xmlns:p14="http://schemas.microsoft.com/office/powerpoint/2010/main" val="5178210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895C44-9B35-43D4-B40A-0B3B484E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15F0DC-227F-49B6-85DB-3EEE02F1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628099-DEBA-4EF0-BED6-AEDE55E8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04 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8C81A-2BFB-43D2-B022-34C910DF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校正支持量測趨勢；應用時仍須看局部不確定度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ED6D05-4FB8-401E-A063-235618C7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2D68A-4598-405E-8D64-65EFA595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E8398A-CD45-4032-B476-6BA6DDA6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196D2-986D-4580-8161-D8414C95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7ADBDA-F432-4172-8222-BD4DE29D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76375"/>
            <a:ext cx="4762500" cy="3190875"/>
          </a:xfrm>
          <a:prstGeom xmlns:a="http://schemas.openxmlformats.org/drawingml/2006/main" prst="roundRect">
            <a:avLst>
              <a:gd name="adj" fmla="val 2388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B89F16-1E33-4976-B5FF-70D6EA47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526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作者報告的校正結果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1FDAD7-F1F8-4634-9B0E-3D4FB27B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52675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&lt; 0.06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F7C6DF-80C4-4BCD-B1DC-41458BE2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3857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DoLP / DoCP 平均誤差量值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BCACCE-EC37-4108-996C-148B52C66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09975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75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&lt; 0.04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3F6ED-645F-4041-B238-A919689B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05300"/>
            <a:ext cx="3857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各角度標準差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595ce1e87d455c"/>
          <a:stretch xmlns:a="http://schemas.openxmlformats.org/drawingml/2006/main"/>
        </p:blipFill>
        <p:spPr>
          <a:xfrm xmlns:a="http://schemas.openxmlformats.org/drawingml/2006/main">
            <a:off x="6000750" y="1752476"/>
            <a:ext cx="5238750" cy="1962398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BBFF70-83CA-42E1-B642-9B730D09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857625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輸入偏振角度（°）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D96ECE-F968-4B70-870A-A033EA38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05300"/>
            <a:ext cx="490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平均百分比誤差：DoLP 3.68%  ·  DoCP 4.06%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568248-2A68-4186-A60D-90E496F5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48250"/>
            <a:ext cx="10334625" cy="714375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91BA02-4EDC-43A3-B8D8-4238A8BD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C63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8C633F"/>
                </a:solidFill>
                <a:latin typeface="Microsoft JhengHei"/>
                <a:ea typeface="Microsoft JhengHei"/>
                <a:cs typeface="Microsoft JhengHei"/>
              </a:rPr>
              <a:t>解讀提醒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38A36E-8148-406A-B426-BD5583AD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62550"/>
            <a:ext cx="790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這些數字是特定校正條件的表現，不是每個場景像素的通用誤差門檻。</a:t>
            </a:r>
          </a:p>
        </p:txBody>
      </p:sp>
    </p:spTree>
    <p:extLst>
      <p:ext uri="{BB962C8B-B14F-4D97-AF65-F5344CB8AC3E}">
        <p14:creationId xmlns:p14="http://schemas.microsoft.com/office/powerpoint/2010/main" val="21385736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EEAC8A-B36E-4BB7-AD89-94F81A94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6F9DE7-C3F4-4AB8-8D49-42E7B1DB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F04618-6FBE-4B8C-AD14-FDCED0AE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04 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B4A041-BCC7-421F-B137-2F004FF8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室內材料：強度影像先呈現透光差異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3C52E4-1D89-4A9D-8B1F-0F43EEC8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F4E32-BA28-48BE-98C8-699D1D05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E58DE-A878-4CA8-9A0E-5FB6BEB8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99A28-8262-491D-B80A-72AFB799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fffecf4a540a5"/>
          <a:stretch xmlns:a="http://schemas.openxmlformats.org/drawingml/2006/main"/>
        </p:blipFill>
        <p:spPr>
          <a:xfrm xmlns:a="http://schemas.openxmlformats.org/drawingml/2006/main">
            <a:off x="723900" y="1345483"/>
            <a:ext cx="7124700" cy="3271684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6DF71C-CA8A-4D24-B797-3A70BE26B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0020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先問：哪些光穿過了材料？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601A4-845A-4C3E-B5D2-CA46AA9A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33650"/>
            <a:ext cx="285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綠／藍塑膠、黑玻璃、矽片與油可透過 SWIR；鋁、木材與水在影像中較暗。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1FC085-241A-4032-B535-1D1E3461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7147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525D95-956C-4D90-95C9-4ACEF9D9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3743325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黑色黑曜石 → SWIR 透光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BA091-4A46-413C-BDDA-BED7A513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81500"/>
            <a:ext cx="285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亮暗是結果，不是單一吸收證據。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64D418-1B44-447C-A467-515A2240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10125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反射、透射與曝光條件都會影響亮度。</a:t>
            </a:r>
          </a:p>
        </p:txBody>
      </p:sp>
    </p:spTree>
    <p:extLst>
      <p:ext uri="{BB962C8B-B14F-4D97-AF65-F5344CB8AC3E}">
        <p14:creationId xmlns:p14="http://schemas.microsoft.com/office/powerpoint/2010/main" val="18018621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16D0A5-9D4B-483D-8C88-44A931AF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4A84C2-9715-435B-AB6F-BC56A519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894A70-FFED-4B8E-9081-312B8562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04 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65155-AC4E-42FF-AD7F-67E7DE50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室內材料偏振圖：方向、線偏振與圓偏振各有線索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EC804-FC76-4D1E-9883-7C973B74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005ABC-05E6-4233-9055-3EA81D9E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B88C33-6AF4-4448-8A67-7445F235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B9D1E-FA1E-4E66-AB94-CFC450F0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8b32eed204b2e"/>
          <a:stretch xmlns:a="http://schemas.openxmlformats.org/drawingml/2006/main"/>
        </p:blipFill>
        <p:spPr>
          <a:xfrm xmlns:a="http://schemas.openxmlformats.org/drawingml/2006/main">
            <a:off x="1114274" y="1323975"/>
            <a:ext cx="5753402" cy="40386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BEFD57-0D25-4746-910B-BD07C054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466850"/>
            <a:ext cx="3190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AoLP｜方向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56AA0-CE99-47B9-8B27-E7512D03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192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線偏振片約 115°；圓偏振片約 55°。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6C1D73-A610-4431-B30D-327126A9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DoLP｜線偏振比例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E0C7E9-C85B-4519-92E3-E63D8364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38450"/>
            <a:ext cx="333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線偏振片約 0.66；可透 SWIR 的塑膠、玻璃、矽片低於 0.05。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9D28D5-2669-499C-A4DA-475086DA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147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DoCP｜圓偏振分量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43EA39-8365-463C-A358-C20B8C98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76700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只有圓偏振片呈現明顯的透射 DoCP。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4B5E85-85B6-4A2D-B13D-7A764AC8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1019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204BAB-28F0-4996-96BB-2947089C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53075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黑色 AoLP 區：DoLP 為零，方向未定義；不要把它讀成另一個角度。</a:t>
            </a:r>
          </a:p>
        </p:txBody>
      </p:sp>
    </p:spTree>
    <p:extLst>
      <p:ext uri="{BB962C8B-B14F-4D97-AF65-F5344CB8AC3E}">
        <p14:creationId xmlns:p14="http://schemas.microsoft.com/office/powerpoint/2010/main" val="691620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F47E76-065F-4959-955D-49B08D89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FABB42-A1EC-4EBE-9E88-CE2F29B0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A26E3-8ADF-4783-8AC0-A9982627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04 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C3089A-3F19-4410-B84F-B5C6E366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熱板照明：透明物件的多次反射改變偏振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AB81ED-197C-4CFD-BEFA-CCD42585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9FFB11-6E6A-4772-80CA-DEDECD19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CB859F-B9BD-41EF-993E-77672DC7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763E77-241D-4CCB-8B64-EF169721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dcf2a6b1be4e4c"/>
          <a:stretch xmlns:a="http://schemas.openxmlformats.org/drawingml/2006/main"/>
        </p:blipFill>
        <p:spPr>
          <a:xfrm xmlns:a="http://schemas.openxmlformats.org/drawingml/2006/main">
            <a:off x="685800" y="1275853"/>
            <a:ext cx="6667500" cy="379194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3876D8-DF9E-4BF4-8165-B927DB1E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71625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158°C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CF281C-3C67-4A3E-B4CC-111F8FD9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熱板提供 SWIR 熱輻射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A6AB13-613E-4226-AD50-3030D292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03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27DCB4-A092-4F4F-BE14-FA943B43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8E5D1-BD25-41A0-94BA-5DD3C383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03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觀察到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7C744-A3D4-481A-A52F-C4F058FD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00400"/>
            <a:ext cx="2514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稜鏡與玻璃球出現不同線偏振分布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586E99-C388-4D2D-8C08-915D8006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95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B3EAE4-8655-42CB-A7BF-966D6BA2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2905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4292DF-DE27-467D-93CF-F7AB5BCD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81952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作者解釋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DF5608-60FA-4FA2-BA5E-3DF4C7BB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19575"/>
            <a:ext cx="2514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表面多次反射造成偏振狀態改變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95DD74-41A4-41A2-BC2C-89153F88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2920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3AF842-0767-49A5-884D-28E3FE52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57775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定性觀察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EADDB4-3BB5-47A4-96A0-0E35907C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圖：論文 Fig. 4</a:t>
            </a:r>
          </a:p>
        </p:txBody>
      </p:sp>
    </p:spTree>
    <p:extLst>
      <p:ext uri="{BB962C8B-B14F-4D97-AF65-F5344CB8AC3E}">
        <p14:creationId xmlns:p14="http://schemas.microsoft.com/office/powerpoint/2010/main" val="11466944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3A2352-7AA2-4650-BD8F-93FF1F47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E8631E-DFE1-4CEA-BAC3-E3026A62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C8FC9-08D7-4DD4-8553-380B31EA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04 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B54128-D94B-429C-9E34-F81DFF10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全反射可產生相位差，影像出現圓偏振分量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9D41D6-2F5D-41FB-9360-8212FDF8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5C4A3-FE07-43F7-96A0-AA8A392D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7638DD-7D71-46A2-9040-F5A21B6C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684FC9-8726-46A7-80E5-3EA46332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379D35-8726-4117-8717-8C885512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430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入射角 &gt; 臨界角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8D0555-2285-43D2-967B-459D06E0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76450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s 與 p 分量反射後產生相位差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35DFE-FD49-4287-8D99-640B1D88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4572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F8F360-0465-413A-BA64-8BE67A20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257550"/>
            <a:ext cx="3829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856356-EA6F-4720-85C6-85887D61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562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較高折射率介質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AA471F-C85A-4D99-9340-87C96DCA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057400"/>
            <a:ext cx="1000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入射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B4C083-1CCF-426A-AB29-89534E7F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36220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D7AA4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D7AA45"/>
                </a:solidFill>
                <a:latin typeface="Microsoft JhengHei"/>
                <a:ea typeface="Microsoft JhengHei"/>
                <a:cs typeface="Microsoft JhengHei"/>
              </a:rPr>
              <a:t>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AEFD7D-629D-4383-9296-16A2CD17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6220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0B8AEF-0938-4784-97A2-1122D023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057400"/>
            <a:ext cx="1000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反射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47F3B5-64B7-4099-8666-3D451F9C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86075"/>
            <a:ext cx="1504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6758A6-9496-4D7A-BADA-00555443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9146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s / p：Δφ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0570F4-3392-4225-8CE5-B3DC0BF8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210050"/>
            <a:ext cx="8763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示意圖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72187D-0922-458E-AF44-362ED18B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4381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4B490F-2AB5-4BA5-A13A-18768A16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48075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DoCP ≠ 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10163D-5943-4518-A2C1-CA6DAEC4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291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表示存在圓偏振分量，可能對應橢圓偏振。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24B2A4-EC42-48BC-8D20-238F698F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95900"/>
            <a:ext cx="5810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機制示意；論文實際熱板影像見 Fig. 4。</a:t>
            </a:r>
          </a:p>
        </p:txBody>
      </p:sp>
    </p:spTree>
    <p:extLst>
      <p:ext uri="{BB962C8B-B14F-4D97-AF65-F5344CB8AC3E}">
        <p14:creationId xmlns:p14="http://schemas.microsoft.com/office/powerpoint/2010/main" val="1935991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1FBC9A-B56C-4BA8-9BCC-A7EFA74A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0F432C-C179-4DD7-B400-BFF927D1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9AB61-A874-4175-AA64-C30AB43D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04 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B9C76-8F67-43F8-A154-FD91A52B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青銅雕像：表面方向與天空反射形成偏振圖樣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A6F20-D9E5-4ACB-866E-4CD81EC5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BEFA26-F900-45CA-842D-C481079C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A3F8F9-4946-4EFB-81A4-286C6AA5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DED7D5-6F9B-4079-983F-D286D8C0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22c5c08334f61"/>
          <a:stretch xmlns:a="http://schemas.openxmlformats.org/drawingml/2006/main"/>
        </p:blipFill>
        <p:spPr>
          <a:xfrm xmlns:a="http://schemas.openxmlformats.org/drawingml/2006/main">
            <a:off x="714375" y="1318637"/>
            <a:ext cx="6667500" cy="3611126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CFBE6-B2C9-41F3-834E-B54BFF0D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7640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Wildcat Family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C4AC6-FBF8-4501-9AA6-E22D5673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241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DoLP 約可達 0.55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F3B35-219C-4572-A51F-727782B7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3370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觀察值受表面形貌、光照方向與天空偏振共同影響。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121C10-1864-45DA-AA07-9B8B70C8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4038600"/>
            <a:ext cx="1809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C018C3-9064-488D-8A91-54EEA79A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067175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戶外自然光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967E55-DB31-4FCE-9065-8817CAF4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76775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不應把整張圖簡化為「青銅材質指紋」。</a:t>
            </a:r>
          </a:p>
        </p:txBody>
      </p:sp>
    </p:spTree>
    <p:extLst>
      <p:ext uri="{BB962C8B-B14F-4D97-AF65-F5344CB8AC3E}">
        <p14:creationId xmlns:p14="http://schemas.microsoft.com/office/powerpoint/2010/main" val="16743012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AD80EF-EBD3-4F18-BD0B-B7DE4AF0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A97017-6CB4-4BB2-9B13-1F22B04F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0D0FAF-EF1B-4919-B2A3-C958615C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04 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0ACFD-88DB-4D4B-A64B-EC67B690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第二座雕像呈現不同分布：幾何與光線不能忽略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B5F66-DF1C-47FF-BBF9-A6DD5F33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A8511D-8D1E-467F-9E7A-9E0D7E1D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3F9FD5-ACFA-4451-90E7-84B87BC0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F87643-6431-47AC-BD57-71570F78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8f38cabc7d4ea7"/>
          <a:stretch xmlns:a="http://schemas.openxmlformats.org/drawingml/2006/main"/>
        </p:blipFill>
        <p:spPr>
          <a:xfrm xmlns:a="http://schemas.openxmlformats.org/drawingml/2006/main">
            <a:off x="723900" y="1433311"/>
            <a:ext cx="6705600" cy="3305577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626EA-22E1-4836-8734-0F4A1BA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52575"/>
            <a:ext cx="3067050" cy="27813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37D3F-AA00-4778-9C0F-CBF0210D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38325"/>
            <a:ext cx="2428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比較時控制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221546-9A2B-4E81-B9C0-2C8813D7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907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088D39-627E-4B41-9E04-6BD59744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0030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9F7C5-B29E-4436-9402-C4CE617B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390775"/>
            <a:ext cx="201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表面形貌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43979-D470-4DA8-82BB-A0D74E91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90825"/>
            <a:ext cx="19431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曲面、粗糙度、凹槽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E00A3C-8683-4A89-848B-50086538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00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747AC2-8E92-4D74-8254-D7B2F8EF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099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451441-BCA8-42BE-9093-A93D29AB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00400"/>
            <a:ext cx="201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入射方向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3B6FC1-F432-4731-8798-8A5415EE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600450"/>
            <a:ext cx="19431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天空光與反射方向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664F1A-4CF3-4F62-8AF5-28DE8DA3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100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9D56CC-D0AA-4908-A8F3-12B93D5C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1955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DC5AC3-1487-4992-8871-FB3820B3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10025"/>
            <a:ext cx="201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相機姿態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6F1191-32D6-45DE-A32C-731C9852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10075"/>
            <a:ext cx="19431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位置與觀察角度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7E4787-028C-409C-A4BF-6CC6FF0F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219700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場景差異 ≠ 單純材料差異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FD5931-B35A-467F-A3F0-E4B500B2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610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圖：論文 Fig. 6</a:t>
            </a:r>
          </a:p>
        </p:txBody>
      </p:sp>
    </p:spTree>
    <p:extLst>
      <p:ext uri="{BB962C8B-B14F-4D97-AF65-F5344CB8AC3E}">
        <p14:creationId xmlns:p14="http://schemas.microsoft.com/office/powerpoint/2010/main" val="11241280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99EFEA-FB6C-4656-B10A-090099CD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089A16-7315-4FAF-9094-E89478C4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6F79B7-DAD9-4FB3-8FF5-8CDC6B01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04 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319BD7-4200-4668-88A0-4BC7B626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穿透玻璃窗：偏振條紋與殘留應力相符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2352A-6153-4BCC-8D8F-AEEB0E38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9F1E19-5332-4CEA-B6EA-C9F34D20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B07C9-DB52-4BF1-A882-626F9A02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7CB4DF-BECF-4C11-94C6-59624BCAF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b06e24f01c4a32"/>
          <a:stretch xmlns:a="http://schemas.openxmlformats.org/drawingml/2006/main"/>
        </p:blipFill>
        <p:spPr>
          <a:xfrm xmlns:a="http://schemas.openxmlformats.org/drawingml/2006/main">
            <a:off x="685800" y="1314764"/>
            <a:ext cx="6762750" cy="365697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568C1-42D5-4E4C-9C64-3C2D8F7F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68592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週期性條紋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A1F4D3-3381-4B2E-BC5F-1FF542AD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266950"/>
            <a:ext cx="2952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可見於 DoLP 與 DoCP 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93CC28-EAF9-4552-8426-2C7AC680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924175"/>
            <a:ext cx="295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作者將其解釋為玻璃製造過程中的內部應力造成雙折射。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FC3479-2B9E-45A8-B470-27646AC3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48150"/>
            <a:ext cx="3048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7286AA-9701-4CB0-9936-5E631043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00550"/>
            <a:ext cx="261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δ = 2π Δn d / 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F9C054-B709-4C9C-BAA6-51D051F7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810125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相位延遲取決於雙折射與厚度</a:t>
            </a:r>
          </a:p>
        </p:txBody>
      </p:sp>
    </p:spTree>
    <p:extLst>
      <p:ext uri="{BB962C8B-B14F-4D97-AF65-F5344CB8AC3E}">
        <p14:creationId xmlns:p14="http://schemas.microsoft.com/office/powerpoint/2010/main" val="15995135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65B605-D514-4CA2-88D8-627D99D3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1378AE-CFC7-49FF-B65D-EE0190C9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EBEB1-C472-4835-A788-7EB27922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04 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EF137-0F51-499F-AE55-110BACAA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玻璃的透射與反射：同一窗面可呈現不同偏振來源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486B7B-56C3-47C3-BA37-6A69EB7B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5D176-F85E-4FB0-9898-20B9D94C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229C88-6DAF-4C46-A415-1BF0F5CD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9042B0-43FE-4015-886D-BB71AE0E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162b900544061"/>
          <a:stretch xmlns:a="http://schemas.openxmlformats.org/drawingml/2006/main"/>
        </p:blipFill>
        <p:spPr>
          <a:xfrm xmlns:a="http://schemas.openxmlformats.org/drawingml/2006/main">
            <a:off x="762000" y="1484631"/>
            <a:ext cx="5905500" cy="319341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354359-462E-411D-8D49-322690A4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097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透射影像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9AEB2B-E239-4809-B9BF-2EA6281C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09775"/>
            <a:ext cx="3714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玻璃的雙折射與內應力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AA62CC-74BB-463A-A5DE-7B613BF6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86025"/>
            <a:ext cx="3381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90DD93-85A0-479C-A322-6C5DC7E7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289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反射影像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FCC49A-6095-40FE-853E-F0CB388C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2897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環境與窗面反射的混合訊號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62FD66-C924-4559-B419-9244118F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81475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討論時先交代拍攝位置與光路。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48147F-9675-45AC-B91F-02CD65D3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4943475"/>
            <a:ext cx="23336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C69D08-06D8-4F6B-954C-1709A839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972050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幾何條件很重要</a:t>
            </a:r>
          </a:p>
        </p:txBody>
      </p:sp>
    </p:spTree>
    <p:extLst>
      <p:ext uri="{BB962C8B-B14F-4D97-AF65-F5344CB8AC3E}">
        <p14:creationId xmlns:p14="http://schemas.microsoft.com/office/powerpoint/2010/main" val="137395215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766F26-DC0C-46E2-970F-6A283593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C6E5B3-292C-49C2-8382-424330D4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C5AA38-7D08-4FD0-9E24-B12DB221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04 結果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649281-17DE-430A-BDE9-D1FDBF98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結果總覽：影像看見了現象，還未完成定量辨識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1E596-51F6-4CF4-A8C0-B9B537D2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AAFAB-2D0F-4BB4-8864-C35FF59E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3D9538-24FD-4273-AFA2-5E656B2A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37930-C98A-4F7B-82B0-9DB02091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8BDAE9-BB57-4270-BD1B-C935F3D8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95425"/>
            <a:ext cx="10306050" cy="657225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29B53-E6BB-4F14-B87B-7D5C854F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619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透明材料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4C8783-5CD9-4890-A584-8D1730DD2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6192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透射差異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A034C-BA1E-44FA-8382-153BA90B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16192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S₀ 強度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26D538-47AD-450B-BD01-8BC2CD0A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10306050" cy="657225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20091-236F-46F3-A555-961F1CB4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486025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熱板物件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2E82D5-516D-4FBB-B266-A393E14F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86025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多次反射／全反射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BA2576-9AA9-49D2-9D83-49870F80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486025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DoLP、DoCP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C78C8E-C757-4E05-8A77-AE7AB2EB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28975"/>
            <a:ext cx="10306050" cy="657225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72830C-62FF-4D6C-9B9E-8FD933B3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3528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青銅雕像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548ABD-AF95-425C-B956-C380728D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表面反射與天光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FBD1A4-FF6B-4DA3-9C75-4F1FE620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35280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AoLP、DoLP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9071DF-ABD3-4AE9-8FBD-1A0CF167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10306050" cy="657225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3A1AD8-E59E-4F90-A24D-107959AA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219575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建築玻璃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4EB210-8DBC-46B6-81DD-9CA694C3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219575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殘留應力相關條紋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34C2DB-E0E7-4791-A05F-862B2FD3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219575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DoLP、DoCP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B978EB-2067-4F14-BB89-207FD9A3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05425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下一步研究要補上：標準樣品 × 控制變因 × 量化真值</a:t>
            </a:r>
          </a:p>
        </p:txBody>
      </p:sp>
    </p:spTree>
    <p:extLst>
      <p:ext uri="{BB962C8B-B14F-4D97-AF65-F5344CB8AC3E}">
        <p14:creationId xmlns:p14="http://schemas.microsoft.com/office/powerpoint/2010/main" val="180009030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8A6B23-511D-4CC2-8C7A-3A54646A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67285-97E2-4CAA-B14B-A11B200A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1B7837-E820-44AA-A25A-EE49B2C9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05 討論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827D55-9F49-40E4-92B8-C2266EBC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證據界線：本文能支持什麼？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A42CAD-DB74-4D5E-BA2E-C0419659D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963DD-6158-48F8-8245-7C70F8E4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9572E3-5038-4C79-9ABC-82C6A2C4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C66972-0576-463F-B134-B9752B7F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738BA-82AE-486A-8DAF-85F119CA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10306050" cy="1038225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A0A31D-797C-45F4-8B22-26E77FCB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657350"/>
            <a:ext cx="16668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102A14-E419-4019-ADDC-F683FC01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685925"/>
            <a:ext cx="1514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支持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B3094-9CE4-4CC7-9728-180C6D03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657350"/>
            <a:ext cx="7620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緊湊型 SWIR DoFP 可取得偏振影像；校正條件下量測追隨輸入。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AB363F-A797-417B-8D1D-3DAB12AB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10306050" cy="1038225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9C0C76-26A5-4601-8AE2-DAC88A0D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981325"/>
            <a:ext cx="16668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868455-0653-4857-8DB7-C1FE12CB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009900"/>
            <a:ext cx="1514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顯示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86B6BE-3488-4859-A11A-D4D65031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981325"/>
            <a:ext cx="7620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若干材料／場景具有不同的強度與偏振圖樣。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2A5F23-4A44-4F9C-BA60-75A258CA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0306050" cy="1038225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E9D6CC"/>
          </a:solidFill>
          <a:ln xmlns:a="http://schemas.openxmlformats.org/drawingml/2006/main" w="7620">
            <a:solidFill>
              <a:srgbClr val="E9D6CC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DC17C1-82C8-4C61-A993-1494C058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305300"/>
            <a:ext cx="16668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9D6CC"/>
          </a:solidFill>
          <a:ln xmlns:a="http://schemas.openxmlformats.org/drawingml/2006/main" w="7620">
            <a:solidFill>
              <a:srgbClr val="E9D6CC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BA745E-58ED-4E32-B635-8782E269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33875"/>
            <a:ext cx="1514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尚未證明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EB9001-6C20-4882-9654-2A4AB413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05300"/>
            <a:ext cx="7620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自動分類效能、普遍材料指紋、玻璃應力定量反演。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BD93C2-854D-4A88-9E72-235B20D6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0225"/>
            <a:ext cx="9906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低訊號與兩次曝光是實作上需特別驗證的條件。</a:t>
            </a:r>
          </a:p>
        </p:txBody>
      </p:sp>
    </p:spTree>
    <p:extLst>
      <p:ext uri="{BB962C8B-B14F-4D97-AF65-F5344CB8AC3E}">
        <p14:creationId xmlns:p14="http://schemas.microsoft.com/office/powerpoint/2010/main" val="189715269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8A94C3-F362-4D13-A8E3-D14EA91B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45FCCA-030A-4C8F-9210-D41C8A67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9AD27B-93C6-49A3-AA8A-D3EEEEED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06 結論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8AF3B-8EF2-4DA4-BDD1-01117C7E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三個 takeaways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BF4C7B-C78E-4C5C-8531-53C39276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EBEA6E-A56A-413A-8785-ADDFA3EA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505EA-A7CF-42D9-816F-4CDE4C6B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FB8B48-2E4B-4986-BDC9-A529ED58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F3B60F-89DF-40A6-8AC1-CA646C37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906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62555-7376-41D7-B164-28692A24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0020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35C59-5702-41E4-B2A1-B615EA49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590675"/>
            <a:ext cx="916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SWIR 補充資訊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09414-CBF8-41EC-A2A1-4B1EE40A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990725"/>
            <a:ext cx="90868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本文實際波段為 0.9–1.7 μm。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7D2929-6FA5-4BAF-87FC-BC5AE8290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614283-C3E3-4DE4-A174-59FA79E0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8607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6780DC-109B-4B5F-A0B1-BCAB248F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76550"/>
            <a:ext cx="916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偏振量測可行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5A311F-2306-4818-A5D9-7DB53B7D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276600"/>
            <a:ext cx="90868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DoFP 取得線偏振；完整 Stokes 需兩次拍攝與 QWP。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55A9C4-164A-4800-AAE9-C26F3D75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624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9755BB-A6D6-4F2A-9198-934156EB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33B82E-1D3F-45E4-BEE6-BF22311F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62425"/>
            <a:ext cx="916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案例是起點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A85C06-61A9-4024-8080-3158F152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562475"/>
            <a:ext cx="90868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材料／玻璃圖樣值得研究，定量應用仍待驗證。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7682FF-0B7C-4936-9B85-D12F0BA2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476875"/>
            <a:ext cx="10096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4651AD-8F6E-4CA8-9FE3-A1A5D970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5562600"/>
            <a:ext cx="9525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本篇貢獻：儀器實作、校正與現象示範</a:t>
            </a:r>
          </a:p>
        </p:txBody>
      </p:sp>
    </p:spTree>
    <p:extLst>
      <p:ext uri="{BB962C8B-B14F-4D97-AF65-F5344CB8AC3E}">
        <p14:creationId xmlns:p14="http://schemas.microsoft.com/office/powerpoint/2010/main" val="11882259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46CBF6-8D70-4E0F-B499-09DC856B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15C813-AC32-43AA-A6AD-E0F9382B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5B6337-0960-499A-BFED-A4CB17CA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07 未來工作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331C6-00D8-4972-A75D-14DF3EDF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下一步：用免費光學工具先驗證偏振光路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8FE37-BD3F-4186-B702-DBEC1BF6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88237E-4B68-4814-AED8-706F2511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43667C-AF20-4EE2-899D-578A1537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3BCACB-4A34-4AE7-AD22-6AA2E926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00EB73-66A4-461E-9FFE-B34D8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52550"/>
            <a:ext cx="13144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A7703F-B2A1-43D1-973E-AD2720D3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81125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規劃中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5F9A72-974C-4598-91CB-429CE32F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335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Mitsuba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D361E6-9653-4428-9530-B20491B1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336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免費開源、支援偏振追跡與 Stokes 分析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053075-A99E-4309-9998-993AD2BE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33525"/>
            <a:ext cx="50101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328382-4D29-49EB-A289-C2B8473A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71650"/>
            <a:ext cx="5143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6E80F-DE31-42C2-9E3F-9CE8F969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0022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D5A112-0ADC-4098-8367-6100318A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666875"/>
            <a:ext cx="1571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基礎光路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18E892-2063-4A76-91F5-60928545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000250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光源 → 樣品 → 偏振分析器 → 相機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6ED887-7438-4AA0-BB30-A863B04F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52725"/>
            <a:ext cx="50101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521EAA-BC01-48B9-9AAF-0A1FA5F5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90850"/>
            <a:ext cx="5143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1E938-A895-435A-9334-1350FE88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1942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909CAE-CF06-4605-A098-DE354482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886075"/>
            <a:ext cx="1571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樣品機制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65ADD-9E88-459F-A8D5-7D5C2883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219450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稜鏡全反射；玻璃雙折射／應力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62181C-A8C6-475B-87D8-7A0C3C2D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71925"/>
            <a:ext cx="50101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40343F-8774-45A8-AD4D-021432AF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10050"/>
            <a:ext cx="5143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C93E55-3A36-4382-9CE4-A06D4EAE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23862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513EC1-43C0-4BBE-878E-4E50930D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105275"/>
            <a:ext cx="1571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相機條件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CFEA61-A4BF-49A1-A2DC-40969148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438650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波長、QWP、微偏振片與雜訊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441A47-C549-40DF-BAB2-41F06A89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71875"/>
            <a:ext cx="4619625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DDE5DC"/>
          </a:solidFill>
          <a:ln xmlns:a="http://schemas.openxmlformats.org/drawingml/2006/main" w="7620">
            <a:solidFill>
              <a:srgbClr val="DDE5DC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46254D-6D7E-4264-9ACF-013B4511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62375"/>
            <a:ext cx="171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重要限制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752ABA-B2F3-49A3-AA88-BA29FAB8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91000"/>
            <a:ext cx="4000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需驗證材料光學常數、SWIR 波長設定與偏振元件模型；模擬不能取代實驗校正。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EC11BE-A6C8-42B9-A00C-9D80C044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2925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9785A"/>
                </a:solidFill>
                <a:latin typeface="Microsoft JhengHei"/>
                <a:ea typeface="Microsoft JhengHei"/>
                <a:cs typeface="Microsoft JhengHei"/>
              </a:rPr>
              <a:t>目標：先建立可重現的模擬，再與論文的受控案例逐項比對。</a:t>
            </a:r>
          </a:p>
        </p:txBody>
      </p:sp>
    </p:spTree>
    <p:extLst>
      <p:ext uri="{BB962C8B-B14F-4D97-AF65-F5344CB8AC3E}">
        <p14:creationId xmlns:p14="http://schemas.microsoft.com/office/powerpoint/2010/main" val="16232237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EF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5E8C83-1F8A-4AFF-9BFE-AAFC99E0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D517E8-2E05-49F0-9053-8B6A4AD6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43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A45"/>
          </a:solidFill>
          <a:ln xmlns:a="http://schemas.openxmlformats.org/drawingml/2006/main" w="7620">
            <a:solidFill>
              <a:srgbClr val="D7AA4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B2F3A0-1211-4387-8743-B865BFA2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F6E9D5"/>
                </a:solidFill>
                <a:latin typeface="Microsoft JhengHei"/>
                <a:ea typeface="Microsoft JhengHei"/>
                <a:cs typeface="Microsoft JhengHei"/>
              </a:rPr>
              <a:t>08 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42EAB-CC49-426E-B578-EA256033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85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DF9"/>
                </a:solidFill>
                <a:latin typeface="Microsoft JhengHei"/>
                <a:ea typeface="Microsoft JhengHei"/>
                <a:cs typeface="Microsoft JhengHei"/>
              </a:rPr>
              <a:t>參考文獻與圖像來源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2099C-29B6-4E1E-96F4-94D2AC08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734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DDCF"/>
          </a:solidFill>
          <a:ln xmlns:a="http://schemas.openxmlformats.org/drawingml/2006/main" w="7620">
            <a:solidFill>
              <a:srgbClr val="E8DD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6D2345-7B45-4BE0-9295-C2640E97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5953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5A"/>
          </a:solidFill>
          <a:ln xmlns:a="http://schemas.openxmlformats.org/drawingml/2006/main" w="7620">
            <a:solidFill>
              <a:srgbClr val="C9785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B9DE05-A629-44E6-9C09-F4B96305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Hamdoh et al., Scientific Reports 15, 22577 (2025), doi:10.1038/s41598-025-06757-5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C79498-B36A-4A8E-A93C-7F497858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ED95A-8159-45C6-9329-7DC6EA9F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457325"/>
            <a:ext cx="10363200" cy="3286125"/>
          </a:xfrm>
          <a:prstGeom xmlns:a="http://schemas.openxmlformats.org/drawingml/2006/main" prst="roundRect">
            <a:avLst>
              <a:gd name="adj" fmla="val 231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7620">
            <a:solidFill>
              <a:srgbClr val="FFFDF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D6B3DC-FBB2-4B9F-846E-6C92C601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43075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704A2C"/>
                </a:solidFill>
                <a:latin typeface="Microsoft JhengHei"/>
                <a:ea typeface="Microsoft JhengHei"/>
                <a:cs typeface="Microsoft JhengHei"/>
              </a:rPr>
              <a:t>Hamdoh, A. et al. (2025)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E20CCD-111F-404D-A9A7-9586CE24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Short-wave infrared (SWIR) polarization imaging using division-of-focal-plane imaging polarimeter.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0CB143-62F3-4486-9E7D-04716E20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194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30291F"/>
                </a:solidFill>
                <a:latin typeface="Microsoft JhengHei"/>
                <a:ea typeface="Microsoft JhengHei"/>
                <a:cs typeface="Microsoft JhengHei"/>
              </a:rPr>
              <a:t>Scientific Reports, 15, 22577.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FA26C0-BE5F-42C5-A225-62E1FFE8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577D88"/>
                </a:solidFill>
                <a:latin typeface="Microsoft JhengHei"/>
                <a:ea typeface="Microsoft JhengHei"/>
                <a:cs typeface="Microsoft JhengHei"/>
              </a:rPr>
              <a:t>https://doi.org/10.1038/s41598-025-06757-5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9A80E6-0BA9-4276-A9D1-088B4F3E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719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4695E"/>
                </a:solidFill>
                <a:latin typeface="Microsoft JhengHei"/>
                <a:ea typeface="Microsoft JhengHei"/>
                <a:cs typeface="Microsoft JhengHei"/>
              </a:rPr>
              <a:t>投影片中的研究數據與案例影像均取自該文；示意圖已標示為概念圖。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9DEA7C-2E17-42CF-AEFF-EC737360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0"/>
            <a:ext cx="103632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704A2C"/>
          </a:solidFill>
          <a:ln xmlns:a="http://schemas.openxmlformats.org/drawingml/2006/main" w="7620">
            <a:solidFill>
              <a:srgbClr val="704A2C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9AEC20-16DD-4406-8788-8DEFA873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67325"/>
            <a:ext cx="9982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9E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FF9EE"/>
                </a:solidFill>
                <a:latin typeface="Microsoft JhengHei"/>
                <a:ea typeface="Microsoft JhengHei"/>
                <a:cs typeface="Microsoft JhengHei"/>
              </a:rPr>
              <a:t>謝謝聆聽   /   Q&amp;A</a:t>
            </a:r>
          </a:p>
        </p:txBody>
      </p:sp>
    </p:spTree>
    <p:extLst>
      <p:ext uri="{BB962C8B-B14F-4D97-AF65-F5344CB8AC3E}">
        <p14:creationId xmlns:p14="http://schemas.microsoft.com/office/powerpoint/2010/main" val="16813978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2026-10-06T09:17:29.5920000Z</dcterms:created>
  <dcterms:modified xsi:type="dcterms:W3CDTF">2026-10-06T09:17:29.5920000Z</dcterms:modified>
</coreProperties>
</file>